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6" r:id="rId4"/>
    <p:sldId id="261" r:id="rId5"/>
    <p:sldId id="262" r:id="rId6"/>
    <p:sldId id="263" r:id="rId7"/>
    <p:sldId id="257" r:id="rId8"/>
    <p:sldId id="266" r:id="rId9"/>
    <p:sldId id="259" r:id="rId10"/>
    <p:sldId id="267" r:id="rId11"/>
    <p:sldId id="268" r:id="rId12"/>
    <p:sldId id="264" r:id="rId13"/>
    <p:sldId id="265" r:id="rId14"/>
  </p:sldIdLst>
  <p:sldSz cx="9144000" cy="6858000" type="screen4x3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Inget format, inget rutnä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Inget format, tabellrutnä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Format med tema 2 - dekorfärg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Format med tema 2 - dekorfärg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Format med tema 1 - dekorfär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Mörkt format 1 - Dekorfärg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Format med tema 1 - dekorfärg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7AC3CCA-C797-4891-BE02-D94E43425B78}" styleName="Mellanmörkt forma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llanmörkt format 4 - Dekorfärg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format på underrubrik i bakgrunden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8" name="Platshållare för sidfo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9" name="Platshållare för bild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3" name="Platshållare för sidfo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 dirty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format</a:t>
            </a:r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03EF8-60AF-4BB2-817A-95FF1F8E35CB}" type="datetimeFigureOut">
              <a:rPr lang="sv-SE" smtClean="0"/>
              <a:pPr/>
              <a:t>2026-10-26</a:t>
            </a:fld>
            <a:endParaRPr lang="sv-SE" dirty="0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DF0C2-B7F7-469F-922A-DAE93BAE26B5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ktangel 10"/>
          <p:cNvSpPr/>
          <p:nvPr/>
        </p:nvSpPr>
        <p:spPr>
          <a:xfrm>
            <a:off x="4932040" y="2060848"/>
            <a:ext cx="1368152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Transformer Block</a:t>
            </a:r>
          </a:p>
        </p:txBody>
      </p:sp>
      <p:cxnSp>
        <p:nvCxnSpPr>
          <p:cNvPr id="12" name="Rak pil 11"/>
          <p:cNvCxnSpPr/>
          <p:nvPr/>
        </p:nvCxnSpPr>
        <p:spPr>
          <a:xfrm>
            <a:off x="6300192" y="285293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ruta 14"/>
          <p:cNvSpPr txBox="1"/>
          <p:nvPr/>
        </p:nvSpPr>
        <p:spPr>
          <a:xfrm>
            <a:off x="5436096" y="3501008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Nx</a:t>
            </a:r>
          </a:p>
        </p:txBody>
      </p:sp>
      <p:sp>
        <p:nvSpPr>
          <p:cNvPr id="16" name="Rektangel 15"/>
          <p:cNvSpPr/>
          <p:nvPr/>
        </p:nvSpPr>
        <p:spPr>
          <a:xfrm>
            <a:off x="3491880" y="2060848"/>
            <a:ext cx="1152128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Positional Encoder</a:t>
            </a:r>
          </a:p>
        </p:txBody>
      </p:sp>
      <p:cxnSp>
        <p:nvCxnSpPr>
          <p:cNvPr id="17" name="Rak pil 16"/>
          <p:cNvCxnSpPr/>
          <p:nvPr/>
        </p:nvCxnSpPr>
        <p:spPr>
          <a:xfrm>
            <a:off x="4644008" y="285293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ell 21"/>
          <p:cNvGraphicFramePr>
            <a:graphicFrameLocks noGrp="1"/>
          </p:cNvGraphicFramePr>
          <p:nvPr/>
        </p:nvGraphicFramePr>
        <p:xfrm>
          <a:off x="2051720" y="1628800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Tabell 22"/>
          <p:cNvGraphicFramePr>
            <a:graphicFrameLocks noGrp="1"/>
          </p:cNvGraphicFramePr>
          <p:nvPr/>
        </p:nvGraphicFramePr>
        <p:xfrm>
          <a:off x="2051720" y="2708920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ell 23"/>
          <p:cNvGraphicFramePr>
            <a:graphicFrameLocks noGrp="1"/>
          </p:cNvGraphicFramePr>
          <p:nvPr/>
        </p:nvGraphicFramePr>
        <p:xfrm>
          <a:off x="2051720" y="3789040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5" name="Rak 24"/>
          <p:cNvCxnSpPr/>
          <p:nvPr/>
        </p:nvCxnSpPr>
        <p:spPr>
          <a:xfrm>
            <a:off x="3059832" y="1556792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ak pil 25"/>
          <p:cNvCxnSpPr/>
          <p:nvPr/>
        </p:nvCxnSpPr>
        <p:spPr>
          <a:xfrm>
            <a:off x="3059832" y="2852936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ell 26"/>
          <p:cNvGraphicFramePr>
            <a:graphicFrameLocks noGrp="1"/>
          </p:cNvGraphicFramePr>
          <p:nvPr/>
        </p:nvGraphicFramePr>
        <p:xfrm>
          <a:off x="6804248" y="170080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Tabell 27"/>
          <p:cNvGraphicFramePr>
            <a:graphicFrameLocks noGrp="1"/>
          </p:cNvGraphicFramePr>
          <p:nvPr/>
        </p:nvGraphicFramePr>
        <p:xfrm>
          <a:off x="6804248" y="278092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ell 28"/>
          <p:cNvGraphicFramePr>
            <a:graphicFrameLocks noGrp="1"/>
          </p:cNvGraphicFramePr>
          <p:nvPr/>
        </p:nvGraphicFramePr>
        <p:xfrm>
          <a:off x="6804248" y="386104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Rak 29"/>
          <p:cNvCxnSpPr/>
          <p:nvPr/>
        </p:nvCxnSpPr>
        <p:spPr>
          <a:xfrm>
            <a:off x="6588224" y="1628800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ruta 30"/>
          <p:cNvSpPr txBox="1"/>
          <p:nvPr/>
        </p:nvSpPr>
        <p:spPr>
          <a:xfrm>
            <a:off x="179512" y="2708920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Input Embedder</a:t>
            </a:r>
          </a:p>
        </p:txBody>
      </p:sp>
      <p:sp>
        <p:nvSpPr>
          <p:cNvPr id="32" name="textruta 31"/>
          <p:cNvSpPr txBox="1"/>
          <p:nvPr/>
        </p:nvSpPr>
        <p:spPr>
          <a:xfrm>
            <a:off x="7884368" y="27809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ktangel 22"/>
          <p:cNvSpPr/>
          <p:nvPr/>
        </p:nvSpPr>
        <p:spPr>
          <a:xfrm>
            <a:off x="2987824" y="1772816"/>
            <a:ext cx="2520280" cy="403244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Positional Encoder</a:t>
            </a:r>
          </a:p>
        </p:txBody>
      </p:sp>
      <p:cxnSp>
        <p:nvCxnSpPr>
          <p:cNvPr id="18" name="Rak pil 17"/>
          <p:cNvCxnSpPr>
            <a:endCxn id="10" idx="0"/>
          </p:cNvCxnSpPr>
          <p:nvPr/>
        </p:nvCxnSpPr>
        <p:spPr>
          <a:xfrm>
            <a:off x="4283968" y="2684917"/>
            <a:ext cx="0" cy="24002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pil 27"/>
          <p:cNvCxnSpPr>
            <a:endCxn id="26" idx="0"/>
          </p:cNvCxnSpPr>
          <p:nvPr/>
        </p:nvCxnSpPr>
        <p:spPr>
          <a:xfrm>
            <a:off x="4283968" y="3837045"/>
            <a:ext cx="0" cy="24002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ak pil 33"/>
          <p:cNvCxnSpPr>
            <a:endCxn id="32" idx="0"/>
          </p:cNvCxnSpPr>
          <p:nvPr/>
        </p:nvCxnSpPr>
        <p:spPr>
          <a:xfrm>
            <a:off x="4283968" y="4917165"/>
            <a:ext cx="0" cy="24002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l 3"/>
          <p:cNvGraphicFramePr>
            <a:graphicFrameLocks noGrp="1"/>
          </p:cNvGraphicFramePr>
          <p:nvPr/>
        </p:nvGraphicFramePr>
        <p:xfrm>
          <a:off x="2051720" y="2863137"/>
          <a:ext cx="833120" cy="432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 6"/>
          <p:cNvGraphicFramePr>
            <a:graphicFrameLocks noGrp="1"/>
          </p:cNvGraphicFramePr>
          <p:nvPr/>
        </p:nvGraphicFramePr>
        <p:xfrm>
          <a:off x="3923928" y="2276872"/>
          <a:ext cx="833120" cy="432647"/>
        </p:xfrm>
        <a:graphic>
          <a:graphicData uri="http://schemas.openxmlformats.org/drawingml/2006/table">
            <a:tbl>
              <a:tblPr>
                <a:effectLst/>
                <a:tableStyleId>{69C7853C-536D-4A76-A0AE-DD22124D55A5}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Ellips 9"/>
          <p:cNvSpPr/>
          <p:nvPr/>
        </p:nvSpPr>
        <p:spPr>
          <a:xfrm>
            <a:off x="4139952" y="2924944"/>
            <a:ext cx="288032" cy="33603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+</a:t>
            </a:r>
          </a:p>
        </p:txBody>
      </p:sp>
      <p:cxnSp>
        <p:nvCxnSpPr>
          <p:cNvPr id="13" name="Rak pil 12"/>
          <p:cNvCxnSpPr/>
          <p:nvPr/>
        </p:nvCxnSpPr>
        <p:spPr>
          <a:xfrm>
            <a:off x="2915816" y="3068960"/>
            <a:ext cx="122413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ak pil 21"/>
          <p:cNvCxnSpPr>
            <a:stCxn id="10" idx="6"/>
          </p:cNvCxnSpPr>
          <p:nvPr/>
        </p:nvCxnSpPr>
        <p:spPr>
          <a:xfrm flipV="1">
            <a:off x="4427984" y="3068960"/>
            <a:ext cx="1440160" cy="2400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ell 23"/>
          <p:cNvGraphicFramePr>
            <a:graphicFrameLocks noGrp="1"/>
          </p:cNvGraphicFramePr>
          <p:nvPr/>
        </p:nvGraphicFramePr>
        <p:xfrm>
          <a:off x="2051720" y="4004465"/>
          <a:ext cx="833120" cy="432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ell 24"/>
          <p:cNvGraphicFramePr>
            <a:graphicFrameLocks noGrp="1"/>
          </p:cNvGraphicFramePr>
          <p:nvPr/>
        </p:nvGraphicFramePr>
        <p:xfrm>
          <a:off x="3923928" y="3429000"/>
          <a:ext cx="833120" cy="432647"/>
        </p:xfrm>
        <a:graphic>
          <a:graphicData uri="http://schemas.openxmlformats.org/drawingml/2006/table">
            <a:tbl>
              <a:tblPr>
                <a:effectLst/>
                <a:tableStyleId>{69C7853C-536D-4A76-A0AE-DD22124D55A5}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" name="Ellips 25"/>
          <p:cNvSpPr/>
          <p:nvPr/>
        </p:nvSpPr>
        <p:spPr>
          <a:xfrm>
            <a:off x="4139952" y="4077072"/>
            <a:ext cx="288032" cy="33603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+</a:t>
            </a:r>
          </a:p>
        </p:txBody>
      </p:sp>
      <p:cxnSp>
        <p:nvCxnSpPr>
          <p:cNvPr id="27" name="Rak pil 26"/>
          <p:cNvCxnSpPr/>
          <p:nvPr/>
        </p:nvCxnSpPr>
        <p:spPr>
          <a:xfrm>
            <a:off x="2915816" y="4221088"/>
            <a:ext cx="122413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Rak pil 28"/>
          <p:cNvCxnSpPr/>
          <p:nvPr/>
        </p:nvCxnSpPr>
        <p:spPr>
          <a:xfrm flipV="1">
            <a:off x="4427984" y="4221088"/>
            <a:ext cx="1440160" cy="24003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ell 29"/>
          <p:cNvGraphicFramePr>
            <a:graphicFrameLocks noGrp="1"/>
          </p:cNvGraphicFramePr>
          <p:nvPr/>
        </p:nvGraphicFramePr>
        <p:xfrm>
          <a:off x="2051720" y="5084585"/>
          <a:ext cx="833120" cy="432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" name="Tabell 30"/>
          <p:cNvGraphicFramePr>
            <a:graphicFrameLocks noGrp="1"/>
          </p:cNvGraphicFramePr>
          <p:nvPr/>
        </p:nvGraphicFramePr>
        <p:xfrm>
          <a:off x="3923928" y="4509120"/>
          <a:ext cx="833120" cy="432647"/>
        </p:xfrm>
        <a:graphic>
          <a:graphicData uri="http://schemas.openxmlformats.org/drawingml/2006/table">
            <a:tbl>
              <a:tblPr>
                <a:effectLst/>
                <a:tableStyleId>{69C7853C-536D-4A76-A0AE-DD22124D55A5}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Ellips 31"/>
          <p:cNvSpPr/>
          <p:nvPr/>
        </p:nvSpPr>
        <p:spPr>
          <a:xfrm>
            <a:off x="4139952" y="5157192"/>
            <a:ext cx="288032" cy="33603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+</a:t>
            </a:r>
          </a:p>
        </p:txBody>
      </p:sp>
      <p:cxnSp>
        <p:nvCxnSpPr>
          <p:cNvPr id="33" name="Rak pil 32"/>
          <p:cNvCxnSpPr/>
          <p:nvPr/>
        </p:nvCxnSpPr>
        <p:spPr>
          <a:xfrm>
            <a:off x="2915816" y="5301208"/>
            <a:ext cx="122413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ak pil 34"/>
          <p:cNvCxnSpPr/>
          <p:nvPr/>
        </p:nvCxnSpPr>
        <p:spPr>
          <a:xfrm>
            <a:off x="4427984" y="5301208"/>
            <a:ext cx="144016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ell 36"/>
          <p:cNvGraphicFramePr>
            <a:graphicFrameLocks noGrp="1"/>
          </p:cNvGraphicFramePr>
          <p:nvPr/>
        </p:nvGraphicFramePr>
        <p:xfrm>
          <a:off x="5868144" y="2852936"/>
          <a:ext cx="833120" cy="432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Tabell 37"/>
          <p:cNvGraphicFramePr>
            <a:graphicFrameLocks noGrp="1"/>
          </p:cNvGraphicFramePr>
          <p:nvPr/>
        </p:nvGraphicFramePr>
        <p:xfrm>
          <a:off x="5868144" y="4005064"/>
          <a:ext cx="833120" cy="432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Tabell 38"/>
          <p:cNvGraphicFramePr>
            <a:graphicFrameLocks noGrp="1"/>
          </p:cNvGraphicFramePr>
          <p:nvPr/>
        </p:nvGraphicFramePr>
        <p:xfrm>
          <a:off x="5868144" y="5085184"/>
          <a:ext cx="833120" cy="432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647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ktangel 32"/>
          <p:cNvSpPr/>
          <p:nvPr/>
        </p:nvSpPr>
        <p:spPr>
          <a:xfrm>
            <a:off x="1043608" y="1052736"/>
            <a:ext cx="6912768" cy="367240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Transformer Block</a:t>
            </a:r>
          </a:p>
        </p:txBody>
      </p:sp>
      <p:graphicFrame>
        <p:nvGraphicFramePr>
          <p:cNvPr id="6" name="Tabell 5"/>
          <p:cNvGraphicFramePr>
            <a:graphicFrameLocks noGrp="1"/>
          </p:cNvGraphicFramePr>
          <p:nvPr/>
        </p:nvGraphicFramePr>
        <p:xfrm>
          <a:off x="179512" y="155679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 6"/>
          <p:cNvGraphicFramePr>
            <a:graphicFrameLocks noGrp="1"/>
          </p:cNvGraphicFramePr>
          <p:nvPr/>
        </p:nvGraphicFramePr>
        <p:xfrm>
          <a:off x="179512" y="364502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ell 7"/>
          <p:cNvGraphicFramePr>
            <a:graphicFrameLocks noGrp="1"/>
          </p:cNvGraphicFramePr>
          <p:nvPr/>
        </p:nvGraphicFramePr>
        <p:xfrm>
          <a:off x="179512" y="263691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ktangel 8"/>
          <p:cNvSpPr/>
          <p:nvPr/>
        </p:nvSpPr>
        <p:spPr>
          <a:xfrm>
            <a:off x="2555776" y="1556792"/>
            <a:ext cx="1080120" cy="2520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Attention</a:t>
            </a:r>
          </a:p>
        </p:txBody>
      </p:sp>
      <p:sp>
        <p:nvSpPr>
          <p:cNvPr id="10" name="Rektangel 9"/>
          <p:cNvSpPr/>
          <p:nvPr/>
        </p:nvSpPr>
        <p:spPr>
          <a:xfrm>
            <a:off x="1547664" y="2276872"/>
            <a:ext cx="720080" cy="10081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Layer</a:t>
            </a:r>
          </a:p>
          <a:p>
            <a:pPr algn="ctr"/>
            <a:r>
              <a:rPr lang="sv-SE" dirty="0"/>
              <a:t>Norm</a:t>
            </a:r>
          </a:p>
        </p:txBody>
      </p:sp>
      <p:sp>
        <p:nvSpPr>
          <p:cNvPr id="14" name="Rektangel 13"/>
          <p:cNvSpPr/>
          <p:nvPr/>
        </p:nvSpPr>
        <p:spPr>
          <a:xfrm>
            <a:off x="5940152" y="1556792"/>
            <a:ext cx="648072" cy="6480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MLP</a:t>
            </a:r>
          </a:p>
        </p:txBody>
      </p:sp>
      <p:cxnSp>
        <p:nvCxnSpPr>
          <p:cNvPr id="26" name="Rak 25"/>
          <p:cNvCxnSpPr/>
          <p:nvPr/>
        </p:nvCxnSpPr>
        <p:spPr>
          <a:xfrm>
            <a:off x="1115616" y="1484784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Rak pil 27"/>
          <p:cNvCxnSpPr>
            <a:endCxn id="10" idx="1"/>
          </p:cNvCxnSpPr>
          <p:nvPr/>
        </p:nvCxnSpPr>
        <p:spPr>
          <a:xfrm>
            <a:off x="1115616" y="2780928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ak pil 29"/>
          <p:cNvCxnSpPr/>
          <p:nvPr/>
        </p:nvCxnSpPr>
        <p:spPr>
          <a:xfrm>
            <a:off x="2267744" y="278092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lips 30"/>
          <p:cNvSpPr/>
          <p:nvPr/>
        </p:nvSpPr>
        <p:spPr>
          <a:xfrm>
            <a:off x="3923928" y="2636912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+</a:t>
            </a:r>
          </a:p>
        </p:txBody>
      </p:sp>
      <p:cxnSp>
        <p:nvCxnSpPr>
          <p:cNvPr id="34" name="Vinklad  33"/>
          <p:cNvCxnSpPr>
            <a:endCxn id="31" idx="4"/>
          </p:cNvCxnSpPr>
          <p:nvPr/>
        </p:nvCxnSpPr>
        <p:spPr>
          <a:xfrm>
            <a:off x="1331640" y="2780928"/>
            <a:ext cx="2736304" cy="144016"/>
          </a:xfrm>
          <a:prstGeom prst="bentConnector4">
            <a:avLst>
              <a:gd name="adj1" fmla="val -1541"/>
              <a:gd name="adj2" fmla="val 119220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pil 46"/>
          <p:cNvCxnSpPr/>
          <p:nvPr/>
        </p:nvCxnSpPr>
        <p:spPr>
          <a:xfrm>
            <a:off x="3635896" y="278092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ak pil 51"/>
          <p:cNvCxnSpPr/>
          <p:nvPr/>
        </p:nvCxnSpPr>
        <p:spPr>
          <a:xfrm>
            <a:off x="4211960" y="278092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Rak pil 55"/>
          <p:cNvCxnSpPr/>
          <p:nvPr/>
        </p:nvCxnSpPr>
        <p:spPr>
          <a:xfrm>
            <a:off x="5580112" y="2780928"/>
            <a:ext cx="3600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ak 67"/>
          <p:cNvCxnSpPr/>
          <p:nvPr/>
        </p:nvCxnSpPr>
        <p:spPr>
          <a:xfrm>
            <a:off x="5220072" y="2780928"/>
            <a:ext cx="360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lips 74"/>
          <p:cNvSpPr/>
          <p:nvPr/>
        </p:nvSpPr>
        <p:spPr>
          <a:xfrm>
            <a:off x="7236296" y="2564904"/>
            <a:ext cx="288032" cy="28803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+</a:t>
            </a:r>
            <a:endParaRPr lang="sv-SE" b="1" dirty="0"/>
          </a:p>
        </p:txBody>
      </p:sp>
      <p:cxnSp>
        <p:nvCxnSpPr>
          <p:cNvPr id="76" name="Vinklad  33"/>
          <p:cNvCxnSpPr>
            <a:stCxn id="93" idx="3"/>
            <a:endCxn id="75" idx="4"/>
          </p:cNvCxnSpPr>
          <p:nvPr/>
        </p:nvCxnSpPr>
        <p:spPr>
          <a:xfrm>
            <a:off x="5220072" y="2780928"/>
            <a:ext cx="2160240" cy="72008"/>
          </a:xfrm>
          <a:prstGeom prst="bentConnector4">
            <a:avLst>
              <a:gd name="adj1" fmla="val 9104"/>
              <a:gd name="adj2" fmla="val 236009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ktangel 92"/>
          <p:cNvSpPr/>
          <p:nvPr/>
        </p:nvSpPr>
        <p:spPr>
          <a:xfrm>
            <a:off x="4499992" y="2276872"/>
            <a:ext cx="720080" cy="10081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Layer</a:t>
            </a:r>
          </a:p>
          <a:p>
            <a:pPr algn="ctr"/>
            <a:r>
              <a:rPr lang="sv-SE" dirty="0"/>
              <a:t>Norm</a:t>
            </a:r>
          </a:p>
        </p:txBody>
      </p:sp>
      <p:sp>
        <p:nvSpPr>
          <p:cNvPr id="118" name="Rektangel 117"/>
          <p:cNvSpPr/>
          <p:nvPr/>
        </p:nvSpPr>
        <p:spPr>
          <a:xfrm>
            <a:off x="5940152" y="2420888"/>
            <a:ext cx="648072" cy="6480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MLP</a:t>
            </a:r>
          </a:p>
        </p:txBody>
      </p:sp>
      <p:sp>
        <p:nvSpPr>
          <p:cNvPr id="119" name="Rektangel 118"/>
          <p:cNvSpPr/>
          <p:nvPr/>
        </p:nvSpPr>
        <p:spPr>
          <a:xfrm>
            <a:off x="5940152" y="3429000"/>
            <a:ext cx="648072" cy="6480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MLP</a:t>
            </a:r>
          </a:p>
        </p:txBody>
      </p:sp>
      <p:cxnSp>
        <p:nvCxnSpPr>
          <p:cNvPr id="131" name="Rak 130"/>
          <p:cNvCxnSpPr/>
          <p:nvPr/>
        </p:nvCxnSpPr>
        <p:spPr>
          <a:xfrm>
            <a:off x="7812360" y="1484784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Rak pil 133"/>
          <p:cNvCxnSpPr/>
          <p:nvPr/>
        </p:nvCxnSpPr>
        <p:spPr>
          <a:xfrm>
            <a:off x="6948264" y="270892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Rak pil 137"/>
          <p:cNvCxnSpPr/>
          <p:nvPr/>
        </p:nvCxnSpPr>
        <p:spPr>
          <a:xfrm>
            <a:off x="7524328" y="2708920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9" name="Tabell 138"/>
          <p:cNvGraphicFramePr>
            <a:graphicFrameLocks noGrp="1"/>
          </p:cNvGraphicFramePr>
          <p:nvPr/>
        </p:nvGraphicFramePr>
        <p:xfrm>
          <a:off x="8100392" y="1628800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0" name="Tabell 139"/>
          <p:cNvGraphicFramePr>
            <a:graphicFrameLocks noGrp="1"/>
          </p:cNvGraphicFramePr>
          <p:nvPr/>
        </p:nvGraphicFramePr>
        <p:xfrm>
          <a:off x="8100392" y="371703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" name="Tabell 140"/>
          <p:cNvGraphicFramePr>
            <a:graphicFrameLocks noGrp="1"/>
          </p:cNvGraphicFramePr>
          <p:nvPr/>
        </p:nvGraphicFramePr>
        <p:xfrm>
          <a:off x="8100392" y="2708920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Figur 35"/>
          <p:cNvCxnSpPr>
            <a:endCxn id="14" idx="1"/>
          </p:cNvCxnSpPr>
          <p:nvPr/>
        </p:nvCxnSpPr>
        <p:spPr>
          <a:xfrm rot="5400000" flipH="1" flipV="1">
            <a:off x="5310082" y="2150858"/>
            <a:ext cx="900100" cy="36004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Figur 36"/>
          <p:cNvCxnSpPr>
            <a:endCxn id="119" idx="1"/>
          </p:cNvCxnSpPr>
          <p:nvPr/>
        </p:nvCxnSpPr>
        <p:spPr>
          <a:xfrm rot="16200000" flipH="1">
            <a:off x="5238074" y="3050958"/>
            <a:ext cx="1044116" cy="36004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Figur 43"/>
          <p:cNvCxnSpPr>
            <a:stCxn id="14" idx="3"/>
          </p:cNvCxnSpPr>
          <p:nvPr/>
        </p:nvCxnSpPr>
        <p:spPr>
          <a:xfrm>
            <a:off x="6588224" y="1880828"/>
            <a:ext cx="360040" cy="900100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Figur 44"/>
          <p:cNvCxnSpPr>
            <a:stCxn id="119" idx="3"/>
          </p:cNvCxnSpPr>
          <p:nvPr/>
        </p:nvCxnSpPr>
        <p:spPr>
          <a:xfrm flipV="1">
            <a:off x="6588224" y="2780928"/>
            <a:ext cx="360040" cy="972108"/>
          </a:xfrm>
          <a:prstGeom prst="bentConnector2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ak 49"/>
          <p:cNvCxnSpPr/>
          <p:nvPr/>
        </p:nvCxnSpPr>
        <p:spPr>
          <a:xfrm>
            <a:off x="6588224" y="2708920"/>
            <a:ext cx="360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ktangel 35"/>
          <p:cNvSpPr/>
          <p:nvPr/>
        </p:nvSpPr>
        <p:spPr>
          <a:xfrm>
            <a:off x="971600" y="908720"/>
            <a:ext cx="7056784" cy="38884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Attention</a:t>
            </a:r>
          </a:p>
        </p:txBody>
      </p:sp>
      <p:sp>
        <p:nvSpPr>
          <p:cNvPr id="20" name="Rektangel 19"/>
          <p:cNvSpPr/>
          <p:nvPr/>
        </p:nvSpPr>
        <p:spPr>
          <a:xfrm>
            <a:off x="1691680" y="1052736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19" name="Rektangel 18"/>
          <p:cNvSpPr/>
          <p:nvPr/>
        </p:nvSpPr>
        <p:spPr>
          <a:xfrm>
            <a:off x="1547664" y="1196752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graphicFrame>
        <p:nvGraphicFramePr>
          <p:cNvPr id="4" name="Tabell 3"/>
          <p:cNvGraphicFramePr>
            <a:graphicFrameLocks noGrp="1"/>
          </p:cNvGraphicFramePr>
          <p:nvPr/>
        </p:nvGraphicFramePr>
        <p:xfrm>
          <a:off x="107504" y="177281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ell 4"/>
          <p:cNvGraphicFramePr>
            <a:graphicFrameLocks noGrp="1"/>
          </p:cNvGraphicFramePr>
          <p:nvPr/>
        </p:nvGraphicFramePr>
        <p:xfrm>
          <a:off x="107504" y="386104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l 5"/>
          <p:cNvGraphicFramePr>
            <a:graphicFrameLocks noGrp="1"/>
          </p:cNvGraphicFramePr>
          <p:nvPr/>
        </p:nvGraphicFramePr>
        <p:xfrm>
          <a:off x="107504" y="285293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Rak 6"/>
          <p:cNvCxnSpPr/>
          <p:nvPr/>
        </p:nvCxnSpPr>
        <p:spPr>
          <a:xfrm>
            <a:off x="1043608" y="1628800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ak pil 7"/>
          <p:cNvCxnSpPr/>
          <p:nvPr/>
        </p:nvCxnSpPr>
        <p:spPr>
          <a:xfrm flipV="1">
            <a:off x="1043608" y="2276872"/>
            <a:ext cx="432048" cy="6480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ktangel 8"/>
          <p:cNvSpPr/>
          <p:nvPr/>
        </p:nvSpPr>
        <p:spPr>
          <a:xfrm>
            <a:off x="1403648" y="1340768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cxnSp>
        <p:nvCxnSpPr>
          <p:cNvPr id="13" name="Rak pil 12"/>
          <p:cNvCxnSpPr/>
          <p:nvPr/>
        </p:nvCxnSpPr>
        <p:spPr>
          <a:xfrm>
            <a:off x="1043608" y="2924944"/>
            <a:ext cx="3600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ak pil 16"/>
          <p:cNvCxnSpPr/>
          <p:nvPr/>
        </p:nvCxnSpPr>
        <p:spPr>
          <a:xfrm>
            <a:off x="1043608" y="2924944"/>
            <a:ext cx="432048" cy="7920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1"/>
          <p:cNvSpPr/>
          <p:nvPr/>
        </p:nvSpPr>
        <p:spPr>
          <a:xfrm>
            <a:off x="1691680" y="2276872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23" name="Rektangel 22"/>
          <p:cNvSpPr/>
          <p:nvPr/>
        </p:nvSpPr>
        <p:spPr>
          <a:xfrm>
            <a:off x="1547664" y="2420888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24" name="Rektangel 23"/>
          <p:cNvSpPr/>
          <p:nvPr/>
        </p:nvSpPr>
        <p:spPr>
          <a:xfrm>
            <a:off x="1403648" y="2564904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26" name="Rektangel 25"/>
          <p:cNvSpPr/>
          <p:nvPr/>
        </p:nvSpPr>
        <p:spPr>
          <a:xfrm>
            <a:off x="1691680" y="3573016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27" name="Rektangel 26"/>
          <p:cNvSpPr/>
          <p:nvPr/>
        </p:nvSpPr>
        <p:spPr>
          <a:xfrm>
            <a:off x="1547664" y="3717032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28" name="Rektangel 27"/>
          <p:cNvSpPr/>
          <p:nvPr/>
        </p:nvSpPr>
        <p:spPr>
          <a:xfrm>
            <a:off x="1403648" y="3861048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34" name="textruta 33"/>
          <p:cNvSpPr txBox="1"/>
          <p:nvPr/>
        </p:nvSpPr>
        <p:spPr>
          <a:xfrm>
            <a:off x="2843808" y="1196752"/>
            <a:ext cx="340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Q</a:t>
            </a:r>
          </a:p>
        </p:txBody>
      </p:sp>
      <p:sp>
        <p:nvSpPr>
          <p:cNvPr id="38" name="textruta 37"/>
          <p:cNvSpPr txBox="1"/>
          <p:nvPr/>
        </p:nvSpPr>
        <p:spPr>
          <a:xfrm>
            <a:off x="2843808" y="3284984"/>
            <a:ext cx="31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V</a:t>
            </a:r>
          </a:p>
        </p:txBody>
      </p:sp>
      <p:sp>
        <p:nvSpPr>
          <p:cNvPr id="40" name="textruta 39"/>
          <p:cNvSpPr txBox="1"/>
          <p:nvPr/>
        </p:nvSpPr>
        <p:spPr>
          <a:xfrm>
            <a:off x="2843808" y="234888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K</a:t>
            </a:r>
          </a:p>
        </p:txBody>
      </p:sp>
      <p:sp>
        <p:nvSpPr>
          <p:cNvPr id="41" name="Rektangel 40"/>
          <p:cNvSpPr/>
          <p:nvPr/>
        </p:nvSpPr>
        <p:spPr>
          <a:xfrm>
            <a:off x="3475112" y="1612032"/>
            <a:ext cx="2088232" cy="17281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Scaled dot-product attention</a:t>
            </a:r>
          </a:p>
        </p:txBody>
      </p:sp>
      <p:cxnSp>
        <p:nvCxnSpPr>
          <p:cNvPr id="42" name="Rak pil 41"/>
          <p:cNvCxnSpPr>
            <a:stCxn id="20" idx="3"/>
          </p:cNvCxnSpPr>
          <p:nvPr/>
        </p:nvCxnSpPr>
        <p:spPr>
          <a:xfrm>
            <a:off x="2627784" y="1484784"/>
            <a:ext cx="720080" cy="21602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ak pil 44"/>
          <p:cNvCxnSpPr>
            <a:stCxn id="22" idx="3"/>
          </p:cNvCxnSpPr>
          <p:nvPr/>
        </p:nvCxnSpPr>
        <p:spPr>
          <a:xfrm>
            <a:off x="2627784" y="2708920"/>
            <a:ext cx="792088" cy="7200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ak pil 47"/>
          <p:cNvCxnSpPr>
            <a:stCxn id="26" idx="3"/>
          </p:cNvCxnSpPr>
          <p:nvPr/>
        </p:nvCxnSpPr>
        <p:spPr>
          <a:xfrm flipV="1">
            <a:off x="2627784" y="3501008"/>
            <a:ext cx="864096" cy="50405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ak pil 50"/>
          <p:cNvCxnSpPr/>
          <p:nvPr/>
        </p:nvCxnSpPr>
        <p:spPr>
          <a:xfrm>
            <a:off x="5868144" y="2780928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ktangel 52"/>
          <p:cNvSpPr/>
          <p:nvPr/>
        </p:nvSpPr>
        <p:spPr>
          <a:xfrm>
            <a:off x="3627512" y="1764432"/>
            <a:ext cx="2088232" cy="17281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Scaled dot-product attention</a:t>
            </a:r>
          </a:p>
        </p:txBody>
      </p:sp>
      <p:sp>
        <p:nvSpPr>
          <p:cNvPr id="54" name="Rektangel 53"/>
          <p:cNvSpPr/>
          <p:nvPr/>
        </p:nvSpPr>
        <p:spPr>
          <a:xfrm>
            <a:off x="3779912" y="1916832"/>
            <a:ext cx="2088232" cy="17281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Scaled dot-product attention</a:t>
            </a:r>
          </a:p>
        </p:txBody>
      </p:sp>
      <p:sp>
        <p:nvSpPr>
          <p:cNvPr id="68" name="Rektangel 67"/>
          <p:cNvSpPr/>
          <p:nvPr/>
        </p:nvSpPr>
        <p:spPr>
          <a:xfrm>
            <a:off x="6084168" y="2276872"/>
            <a:ext cx="576064" cy="9144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Cat</a:t>
            </a:r>
          </a:p>
        </p:txBody>
      </p:sp>
      <p:cxnSp>
        <p:nvCxnSpPr>
          <p:cNvPr id="71" name="Rak pil 70"/>
          <p:cNvCxnSpPr/>
          <p:nvPr/>
        </p:nvCxnSpPr>
        <p:spPr>
          <a:xfrm>
            <a:off x="6660232" y="2780928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ktangel 71"/>
          <p:cNvSpPr/>
          <p:nvPr/>
        </p:nvSpPr>
        <p:spPr>
          <a:xfrm>
            <a:off x="6876256" y="2276872"/>
            <a:ext cx="792088" cy="914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graphicFrame>
        <p:nvGraphicFramePr>
          <p:cNvPr id="87" name="Tabell 86"/>
          <p:cNvGraphicFramePr>
            <a:graphicFrameLocks noGrp="1"/>
          </p:cNvGraphicFramePr>
          <p:nvPr/>
        </p:nvGraphicFramePr>
        <p:xfrm>
          <a:off x="8100392" y="148478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Tabell 87"/>
          <p:cNvGraphicFramePr>
            <a:graphicFrameLocks noGrp="1"/>
          </p:cNvGraphicFramePr>
          <p:nvPr/>
        </p:nvGraphicFramePr>
        <p:xfrm>
          <a:off x="8100392" y="357301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9" name="Tabell 88"/>
          <p:cNvGraphicFramePr>
            <a:graphicFrameLocks noGrp="1"/>
          </p:cNvGraphicFramePr>
          <p:nvPr/>
        </p:nvGraphicFramePr>
        <p:xfrm>
          <a:off x="8100392" y="256490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0" name="Rak 89"/>
          <p:cNvCxnSpPr/>
          <p:nvPr/>
        </p:nvCxnSpPr>
        <p:spPr>
          <a:xfrm>
            <a:off x="7956376" y="1412776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Rak pil 92"/>
          <p:cNvCxnSpPr/>
          <p:nvPr/>
        </p:nvCxnSpPr>
        <p:spPr>
          <a:xfrm>
            <a:off x="7668344" y="278092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ktangel 56"/>
          <p:cNvSpPr/>
          <p:nvPr/>
        </p:nvSpPr>
        <p:spPr>
          <a:xfrm>
            <a:off x="1115616" y="3861048"/>
            <a:ext cx="5976664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MLP</a:t>
            </a:r>
          </a:p>
        </p:txBody>
      </p:sp>
      <p:sp>
        <p:nvSpPr>
          <p:cNvPr id="56" name="Rektangel 55"/>
          <p:cNvSpPr/>
          <p:nvPr/>
        </p:nvSpPr>
        <p:spPr>
          <a:xfrm>
            <a:off x="1115616" y="2564904"/>
            <a:ext cx="5976664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MLP</a:t>
            </a:r>
          </a:p>
        </p:txBody>
      </p:sp>
      <p:sp>
        <p:nvSpPr>
          <p:cNvPr id="54" name="Rektangel 53"/>
          <p:cNvSpPr/>
          <p:nvPr/>
        </p:nvSpPr>
        <p:spPr>
          <a:xfrm>
            <a:off x="1115616" y="1196752"/>
            <a:ext cx="5976664" cy="11521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MLP</a:t>
            </a:r>
          </a:p>
        </p:txBody>
      </p:sp>
      <p:graphicFrame>
        <p:nvGraphicFramePr>
          <p:cNvPr id="4" name="Tabell 3"/>
          <p:cNvGraphicFramePr>
            <a:graphicFrameLocks noGrp="1"/>
          </p:cNvGraphicFramePr>
          <p:nvPr/>
        </p:nvGraphicFramePr>
        <p:xfrm>
          <a:off x="179512" y="155679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Rak pil 6"/>
          <p:cNvCxnSpPr/>
          <p:nvPr/>
        </p:nvCxnSpPr>
        <p:spPr>
          <a:xfrm>
            <a:off x="1043608" y="177281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ktangel 7"/>
          <p:cNvSpPr/>
          <p:nvPr/>
        </p:nvSpPr>
        <p:spPr>
          <a:xfrm>
            <a:off x="1331640" y="1340768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graphicFrame>
        <p:nvGraphicFramePr>
          <p:cNvPr id="9" name="Tabell 8"/>
          <p:cNvGraphicFramePr>
            <a:graphicFrameLocks noGrp="1"/>
          </p:cNvGraphicFramePr>
          <p:nvPr/>
        </p:nvGraphicFramePr>
        <p:xfrm>
          <a:off x="2483768" y="1556792"/>
          <a:ext cx="208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Rak pil 9"/>
          <p:cNvCxnSpPr/>
          <p:nvPr/>
        </p:nvCxnSpPr>
        <p:spPr>
          <a:xfrm>
            <a:off x="2267744" y="1772816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ak pil 11"/>
          <p:cNvCxnSpPr/>
          <p:nvPr/>
        </p:nvCxnSpPr>
        <p:spPr>
          <a:xfrm>
            <a:off x="4572000" y="177281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ktangel 12"/>
          <p:cNvSpPr/>
          <p:nvPr/>
        </p:nvSpPr>
        <p:spPr>
          <a:xfrm>
            <a:off x="6084168" y="1340768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17" name="Ellips 16"/>
          <p:cNvSpPr/>
          <p:nvPr/>
        </p:nvSpPr>
        <p:spPr>
          <a:xfrm>
            <a:off x="4860032" y="1484784"/>
            <a:ext cx="936104" cy="57606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ReLU</a:t>
            </a:r>
          </a:p>
        </p:txBody>
      </p:sp>
      <p:cxnSp>
        <p:nvCxnSpPr>
          <p:cNvPr id="18" name="Rak pil 17"/>
          <p:cNvCxnSpPr/>
          <p:nvPr/>
        </p:nvCxnSpPr>
        <p:spPr>
          <a:xfrm>
            <a:off x="5796136" y="177281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Rak pil 18"/>
          <p:cNvCxnSpPr/>
          <p:nvPr/>
        </p:nvCxnSpPr>
        <p:spPr>
          <a:xfrm>
            <a:off x="7020272" y="177281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ell 19"/>
          <p:cNvGraphicFramePr>
            <a:graphicFrameLocks noGrp="1"/>
          </p:cNvGraphicFramePr>
          <p:nvPr/>
        </p:nvGraphicFramePr>
        <p:xfrm>
          <a:off x="7308304" y="155679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" name="Tabell 31"/>
          <p:cNvGraphicFramePr>
            <a:graphicFrameLocks noGrp="1"/>
          </p:cNvGraphicFramePr>
          <p:nvPr/>
        </p:nvGraphicFramePr>
        <p:xfrm>
          <a:off x="179512" y="292494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3" name="Rak pil 32"/>
          <p:cNvCxnSpPr/>
          <p:nvPr/>
        </p:nvCxnSpPr>
        <p:spPr>
          <a:xfrm>
            <a:off x="1043608" y="31409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ktangel 33"/>
          <p:cNvSpPr/>
          <p:nvPr/>
        </p:nvSpPr>
        <p:spPr>
          <a:xfrm>
            <a:off x="1331640" y="2708920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graphicFrame>
        <p:nvGraphicFramePr>
          <p:cNvPr id="35" name="Tabell 34"/>
          <p:cNvGraphicFramePr>
            <a:graphicFrameLocks noGrp="1"/>
          </p:cNvGraphicFramePr>
          <p:nvPr/>
        </p:nvGraphicFramePr>
        <p:xfrm>
          <a:off x="2483768" y="2924944"/>
          <a:ext cx="208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6" name="Rak pil 35"/>
          <p:cNvCxnSpPr/>
          <p:nvPr/>
        </p:nvCxnSpPr>
        <p:spPr>
          <a:xfrm>
            <a:off x="2267744" y="3140968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ak pil 36"/>
          <p:cNvCxnSpPr/>
          <p:nvPr/>
        </p:nvCxnSpPr>
        <p:spPr>
          <a:xfrm>
            <a:off x="4572000" y="31409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ktangel 37"/>
          <p:cNvSpPr/>
          <p:nvPr/>
        </p:nvSpPr>
        <p:spPr>
          <a:xfrm>
            <a:off x="6084168" y="2708920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39" name="Ellips 38"/>
          <p:cNvSpPr/>
          <p:nvPr/>
        </p:nvSpPr>
        <p:spPr>
          <a:xfrm>
            <a:off x="4860032" y="2852936"/>
            <a:ext cx="936104" cy="57606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ReLU</a:t>
            </a:r>
          </a:p>
        </p:txBody>
      </p:sp>
      <p:cxnSp>
        <p:nvCxnSpPr>
          <p:cNvPr id="40" name="Rak pil 39"/>
          <p:cNvCxnSpPr/>
          <p:nvPr/>
        </p:nvCxnSpPr>
        <p:spPr>
          <a:xfrm>
            <a:off x="5796136" y="31409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ak pil 40"/>
          <p:cNvCxnSpPr/>
          <p:nvPr/>
        </p:nvCxnSpPr>
        <p:spPr>
          <a:xfrm>
            <a:off x="7020272" y="31409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ell 41"/>
          <p:cNvGraphicFramePr>
            <a:graphicFrameLocks noGrp="1"/>
          </p:cNvGraphicFramePr>
          <p:nvPr/>
        </p:nvGraphicFramePr>
        <p:xfrm>
          <a:off x="7308304" y="292494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ell 42"/>
          <p:cNvGraphicFramePr>
            <a:graphicFrameLocks noGrp="1"/>
          </p:cNvGraphicFramePr>
          <p:nvPr/>
        </p:nvGraphicFramePr>
        <p:xfrm>
          <a:off x="179512" y="422108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Rak pil 43"/>
          <p:cNvCxnSpPr/>
          <p:nvPr/>
        </p:nvCxnSpPr>
        <p:spPr>
          <a:xfrm>
            <a:off x="1043608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ktangel 44"/>
          <p:cNvSpPr/>
          <p:nvPr/>
        </p:nvSpPr>
        <p:spPr>
          <a:xfrm>
            <a:off x="1331640" y="4005064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graphicFrame>
        <p:nvGraphicFramePr>
          <p:cNvPr id="46" name="Tabell 45"/>
          <p:cNvGraphicFramePr>
            <a:graphicFrameLocks noGrp="1"/>
          </p:cNvGraphicFramePr>
          <p:nvPr/>
        </p:nvGraphicFramePr>
        <p:xfrm>
          <a:off x="2483768" y="4221088"/>
          <a:ext cx="2082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7" name="Rak pil 46"/>
          <p:cNvCxnSpPr/>
          <p:nvPr/>
        </p:nvCxnSpPr>
        <p:spPr>
          <a:xfrm>
            <a:off x="2267744" y="4437112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Rak pil 47"/>
          <p:cNvCxnSpPr/>
          <p:nvPr/>
        </p:nvCxnSpPr>
        <p:spPr>
          <a:xfrm>
            <a:off x="4572000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ktangel 48"/>
          <p:cNvSpPr/>
          <p:nvPr/>
        </p:nvSpPr>
        <p:spPr>
          <a:xfrm>
            <a:off x="6084168" y="4005064"/>
            <a:ext cx="936104" cy="864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sp>
        <p:nvSpPr>
          <p:cNvPr id="50" name="Ellips 49"/>
          <p:cNvSpPr/>
          <p:nvPr/>
        </p:nvSpPr>
        <p:spPr>
          <a:xfrm>
            <a:off x="4860032" y="4149080"/>
            <a:ext cx="936104" cy="57606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sv-SE" dirty="0"/>
              <a:t>ReLU</a:t>
            </a:r>
          </a:p>
        </p:txBody>
      </p:sp>
      <p:cxnSp>
        <p:nvCxnSpPr>
          <p:cNvPr id="51" name="Rak pil 50"/>
          <p:cNvCxnSpPr/>
          <p:nvPr/>
        </p:nvCxnSpPr>
        <p:spPr>
          <a:xfrm>
            <a:off x="5796136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ak pil 51"/>
          <p:cNvCxnSpPr/>
          <p:nvPr/>
        </p:nvCxnSpPr>
        <p:spPr>
          <a:xfrm>
            <a:off x="7020272" y="443711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l 52"/>
          <p:cNvGraphicFramePr>
            <a:graphicFrameLocks noGrp="1"/>
          </p:cNvGraphicFramePr>
          <p:nvPr/>
        </p:nvGraphicFramePr>
        <p:xfrm>
          <a:off x="7308304" y="422108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ktangel 86"/>
          <p:cNvSpPr/>
          <p:nvPr/>
        </p:nvSpPr>
        <p:spPr>
          <a:xfrm>
            <a:off x="1259632" y="836712"/>
            <a:ext cx="6336704" cy="27363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/>
              <a:t>U-net</a:t>
            </a:r>
            <a:endParaRPr lang="sv-SE" dirty="0"/>
          </a:p>
        </p:txBody>
      </p:sp>
      <p:sp>
        <p:nvSpPr>
          <p:cNvPr id="4" name="Rektangel 3"/>
          <p:cNvSpPr/>
          <p:nvPr/>
        </p:nvSpPr>
        <p:spPr>
          <a:xfrm>
            <a:off x="1547664" y="1484784"/>
            <a:ext cx="1656184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Encoder Block</a:t>
            </a:r>
          </a:p>
        </p:txBody>
      </p:sp>
      <p:sp>
        <p:nvSpPr>
          <p:cNvPr id="8" name="Rektangel 7"/>
          <p:cNvSpPr/>
          <p:nvPr/>
        </p:nvSpPr>
        <p:spPr>
          <a:xfrm>
            <a:off x="1763688" y="2204864"/>
            <a:ext cx="1656184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Encoder Block</a:t>
            </a:r>
          </a:p>
        </p:txBody>
      </p:sp>
      <p:sp>
        <p:nvSpPr>
          <p:cNvPr id="9" name="Rektangel 8"/>
          <p:cNvSpPr/>
          <p:nvPr/>
        </p:nvSpPr>
        <p:spPr>
          <a:xfrm>
            <a:off x="3203848" y="2924944"/>
            <a:ext cx="1656184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Bottleneck</a:t>
            </a:r>
          </a:p>
        </p:txBody>
      </p:sp>
      <p:sp>
        <p:nvSpPr>
          <p:cNvPr id="10" name="Rektangel 9"/>
          <p:cNvSpPr/>
          <p:nvPr/>
        </p:nvSpPr>
        <p:spPr>
          <a:xfrm>
            <a:off x="4499992" y="2204864"/>
            <a:ext cx="1656184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Decoder Block</a:t>
            </a:r>
          </a:p>
        </p:txBody>
      </p:sp>
      <p:sp>
        <p:nvSpPr>
          <p:cNvPr id="11" name="Rektangel 10"/>
          <p:cNvSpPr/>
          <p:nvPr/>
        </p:nvSpPr>
        <p:spPr>
          <a:xfrm>
            <a:off x="5796136" y="1484784"/>
            <a:ext cx="1656184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Decoder Block</a:t>
            </a:r>
          </a:p>
        </p:txBody>
      </p:sp>
      <p:cxnSp>
        <p:nvCxnSpPr>
          <p:cNvPr id="13" name="Rak pil 12"/>
          <p:cNvCxnSpPr>
            <a:stCxn id="4" idx="3"/>
            <a:endCxn id="51" idx="2"/>
          </p:cNvCxnSpPr>
          <p:nvPr/>
        </p:nvCxnSpPr>
        <p:spPr>
          <a:xfrm>
            <a:off x="3203848" y="1664804"/>
            <a:ext cx="194421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pil 13"/>
          <p:cNvCxnSpPr/>
          <p:nvPr/>
        </p:nvCxnSpPr>
        <p:spPr>
          <a:xfrm>
            <a:off x="2771800" y="1844824"/>
            <a:ext cx="0" cy="36004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ak pil 16"/>
          <p:cNvCxnSpPr>
            <a:stCxn id="10" idx="0"/>
            <a:endCxn id="51" idx="4"/>
          </p:cNvCxnSpPr>
          <p:nvPr/>
        </p:nvCxnSpPr>
        <p:spPr>
          <a:xfrm flipV="1">
            <a:off x="5328084" y="1844824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ak pil 21"/>
          <p:cNvCxnSpPr/>
          <p:nvPr/>
        </p:nvCxnSpPr>
        <p:spPr>
          <a:xfrm>
            <a:off x="3275856" y="2564904"/>
            <a:ext cx="0" cy="36004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lips 31"/>
          <p:cNvSpPr/>
          <p:nvPr/>
        </p:nvSpPr>
        <p:spPr>
          <a:xfrm>
            <a:off x="3851920" y="2204864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sv-SE" dirty="0"/>
          </a:p>
        </p:txBody>
      </p:sp>
      <p:cxnSp>
        <p:nvCxnSpPr>
          <p:cNvPr id="42" name="Rak pil 41"/>
          <p:cNvCxnSpPr>
            <a:stCxn id="8" idx="3"/>
            <a:endCxn id="32" idx="2"/>
          </p:cNvCxnSpPr>
          <p:nvPr/>
        </p:nvCxnSpPr>
        <p:spPr>
          <a:xfrm>
            <a:off x="3419872" y="2384884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pil 46"/>
          <p:cNvCxnSpPr>
            <a:stCxn id="32" idx="6"/>
            <a:endCxn id="10" idx="1"/>
          </p:cNvCxnSpPr>
          <p:nvPr/>
        </p:nvCxnSpPr>
        <p:spPr>
          <a:xfrm>
            <a:off x="4211960" y="23848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lips 50"/>
          <p:cNvSpPr/>
          <p:nvPr/>
        </p:nvSpPr>
        <p:spPr>
          <a:xfrm>
            <a:off x="5148064" y="1484784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sv-SE" dirty="0"/>
          </a:p>
        </p:txBody>
      </p:sp>
      <p:cxnSp>
        <p:nvCxnSpPr>
          <p:cNvPr id="54" name="Rak pil 53"/>
          <p:cNvCxnSpPr>
            <a:stCxn id="51" idx="6"/>
            <a:endCxn id="11" idx="1"/>
          </p:cNvCxnSpPr>
          <p:nvPr/>
        </p:nvCxnSpPr>
        <p:spPr>
          <a:xfrm>
            <a:off x="5508104" y="166480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Rak pil 64"/>
          <p:cNvCxnSpPr>
            <a:stCxn id="9" idx="0"/>
            <a:endCxn id="32" idx="4"/>
          </p:cNvCxnSpPr>
          <p:nvPr/>
        </p:nvCxnSpPr>
        <p:spPr>
          <a:xfrm flipV="1">
            <a:off x="4031940" y="2564904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Rak pil 78"/>
          <p:cNvCxnSpPr/>
          <p:nvPr/>
        </p:nvCxnSpPr>
        <p:spPr>
          <a:xfrm>
            <a:off x="1115616" y="1628800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ak pil 83"/>
          <p:cNvCxnSpPr/>
          <p:nvPr/>
        </p:nvCxnSpPr>
        <p:spPr>
          <a:xfrm>
            <a:off x="7452320" y="1628800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ruta 84"/>
          <p:cNvSpPr txBox="1"/>
          <p:nvPr/>
        </p:nvSpPr>
        <p:spPr>
          <a:xfrm>
            <a:off x="395536" y="1412776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</a:t>
            </a:r>
          </a:p>
        </p:txBody>
      </p:sp>
      <p:sp>
        <p:nvSpPr>
          <p:cNvPr id="86" name="textruta 85"/>
          <p:cNvSpPr txBox="1"/>
          <p:nvPr/>
        </p:nvSpPr>
        <p:spPr>
          <a:xfrm>
            <a:off x="7884368" y="1412776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ktangel 87"/>
          <p:cNvSpPr/>
          <p:nvPr/>
        </p:nvSpPr>
        <p:spPr>
          <a:xfrm>
            <a:off x="1475656" y="116632"/>
            <a:ext cx="5256584" cy="2952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Input Embedder</a:t>
            </a:r>
          </a:p>
        </p:txBody>
      </p:sp>
      <p:sp>
        <p:nvSpPr>
          <p:cNvPr id="86" name="Rektangel 85"/>
          <p:cNvSpPr/>
          <p:nvPr/>
        </p:nvSpPr>
        <p:spPr>
          <a:xfrm>
            <a:off x="1043608" y="3284984"/>
            <a:ext cx="6840760" cy="345638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Head</a:t>
            </a:r>
          </a:p>
        </p:txBody>
      </p:sp>
      <p:graphicFrame>
        <p:nvGraphicFramePr>
          <p:cNvPr id="4" name="Tabell 3"/>
          <p:cNvGraphicFramePr>
            <a:graphicFrameLocks noGrp="1"/>
          </p:cNvGraphicFramePr>
          <p:nvPr/>
        </p:nvGraphicFramePr>
        <p:xfrm>
          <a:off x="5652120" y="40466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ell 4"/>
          <p:cNvGraphicFramePr>
            <a:graphicFrameLocks noGrp="1"/>
          </p:cNvGraphicFramePr>
          <p:nvPr/>
        </p:nvGraphicFramePr>
        <p:xfrm>
          <a:off x="5652120" y="249289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l 5"/>
          <p:cNvGraphicFramePr>
            <a:graphicFrameLocks noGrp="1"/>
          </p:cNvGraphicFramePr>
          <p:nvPr/>
        </p:nvGraphicFramePr>
        <p:xfrm>
          <a:off x="5652120" y="148478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ruta 6"/>
          <p:cNvSpPr txBox="1"/>
          <p:nvPr/>
        </p:nvSpPr>
        <p:spPr>
          <a:xfrm>
            <a:off x="251520" y="1268760"/>
            <a:ext cx="1179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”A red fox”</a:t>
            </a:r>
          </a:p>
        </p:txBody>
      </p:sp>
      <p:sp>
        <p:nvSpPr>
          <p:cNvPr id="8" name="Rektangel 7"/>
          <p:cNvSpPr/>
          <p:nvPr/>
        </p:nvSpPr>
        <p:spPr>
          <a:xfrm>
            <a:off x="1691680" y="764704"/>
            <a:ext cx="1080120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Tokenizer</a:t>
            </a:r>
          </a:p>
        </p:txBody>
      </p:sp>
      <p:sp>
        <p:nvSpPr>
          <p:cNvPr id="9" name="Rektangel 8"/>
          <p:cNvSpPr/>
          <p:nvPr/>
        </p:nvSpPr>
        <p:spPr>
          <a:xfrm>
            <a:off x="3995936" y="764704"/>
            <a:ext cx="1152128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Input Embedder</a:t>
            </a:r>
          </a:p>
        </p:txBody>
      </p:sp>
      <p:cxnSp>
        <p:nvCxnSpPr>
          <p:cNvPr id="12" name="Rak pil 11"/>
          <p:cNvCxnSpPr/>
          <p:nvPr/>
        </p:nvCxnSpPr>
        <p:spPr>
          <a:xfrm>
            <a:off x="1403648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k pil 15"/>
          <p:cNvCxnSpPr/>
          <p:nvPr/>
        </p:nvCxnSpPr>
        <p:spPr>
          <a:xfrm>
            <a:off x="2771800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ell 23"/>
          <p:cNvGraphicFramePr>
            <a:graphicFrameLocks noGrp="1"/>
          </p:cNvGraphicFramePr>
          <p:nvPr/>
        </p:nvGraphicFramePr>
        <p:xfrm>
          <a:off x="3059832" y="764704"/>
          <a:ext cx="648072" cy="1512168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r>
                        <a:rPr lang="sv-SE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sv-SE" dirty="0"/>
                        <a:t>1337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sv-SE" dirty="0"/>
                        <a:t>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5" name="Rak pil 24"/>
          <p:cNvCxnSpPr/>
          <p:nvPr/>
        </p:nvCxnSpPr>
        <p:spPr>
          <a:xfrm>
            <a:off x="3707904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ak 25"/>
          <p:cNvCxnSpPr/>
          <p:nvPr/>
        </p:nvCxnSpPr>
        <p:spPr>
          <a:xfrm>
            <a:off x="5436096" y="260648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ak pil 26"/>
          <p:cNvCxnSpPr/>
          <p:nvPr/>
        </p:nvCxnSpPr>
        <p:spPr>
          <a:xfrm>
            <a:off x="5148064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ktangel 16"/>
          <p:cNvSpPr/>
          <p:nvPr/>
        </p:nvSpPr>
        <p:spPr>
          <a:xfrm>
            <a:off x="6948264" y="908720"/>
            <a:ext cx="1368152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Transformer </a:t>
            </a:r>
          </a:p>
        </p:txBody>
      </p:sp>
      <p:cxnSp>
        <p:nvCxnSpPr>
          <p:cNvPr id="20" name="Rak pil 19"/>
          <p:cNvCxnSpPr/>
          <p:nvPr/>
        </p:nvCxnSpPr>
        <p:spPr>
          <a:xfrm>
            <a:off x="6660232" y="155679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ktangel 45"/>
          <p:cNvSpPr/>
          <p:nvPr/>
        </p:nvSpPr>
        <p:spPr>
          <a:xfrm>
            <a:off x="251520" y="4437112"/>
            <a:ext cx="720080" cy="10081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Layer</a:t>
            </a:r>
          </a:p>
          <a:p>
            <a:pPr algn="ctr"/>
            <a:r>
              <a:rPr lang="sv-SE" dirty="0"/>
              <a:t>Norm</a:t>
            </a:r>
          </a:p>
        </p:txBody>
      </p:sp>
      <p:sp>
        <p:nvSpPr>
          <p:cNvPr id="49" name="Rektangel 48"/>
          <p:cNvSpPr/>
          <p:nvPr/>
        </p:nvSpPr>
        <p:spPr>
          <a:xfrm>
            <a:off x="1259632" y="3645024"/>
            <a:ext cx="792088" cy="26642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cxnSp>
        <p:nvCxnSpPr>
          <p:cNvPr id="50" name="Rak pil 49"/>
          <p:cNvCxnSpPr>
            <a:stCxn id="46" idx="3"/>
          </p:cNvCxnSpPr>
          <p:nvPr/>
        </p:nvCxnSpPr>
        <p:spPr>
          <a:xfrm>
            <a:off x="971600" y="49411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ak pil 50"/>
          <p:cNvCxnSpPr/>
          <p:nvPr/>
        </p:nvCxnSpPr>
        <p:spPr>
          <a:xfrm>
            <a:off x="2051720" y="4941168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ktangel 51"/>
          <p:cNvSpPr/>
          <p:nvPr/>
        </p:nvSpPr>
        <p:spPr>
          <a:xfrm>
            <a:off x="4067944" y="5589240"/>
            <a:ext cx="648072" cy="100811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SoftMax</a:t>
            </a:r>
          </a:p>
        </p:txBody>
      </p:sp>
      <p:cxnSp>
        <p:nvCxnSpPr>
          <p:cNvPr id="53" name="Rak pil 52"/>
          <p:cNvCxnSpPr/>
          <p:nvPr/>
        </p:nvCxnSpPr>
        <p:spPr>
          <a:xfrm>
            <a:off x="3779912" y="609329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ell 53"/>
          <p:cNvGraphicFramePr>
            <a:graphicFrameLocks noGrp="1"/>
          </p:cNvGraphicFramePr>
          <p:nvPr/>
        </p:nvGraphicFramePr>
        <p:xfrm>
          <a:off x="2339752" y="3789040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Rak 54"/>
          <p:cNvCxnSpPr/>
          <p:nvPr/>
        </p:nvCxnSpPr>
        <p:spPr>
          <a:xfrm>
            <a:off x="2267744" y="3645024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ell 55"/>
          <p:cNvGraphicFramePr>
            <a:graphicFrameLocks noGrp="1"/>
          </p:cNvGraphicFramePr>
          <p:nvPr/>
        </p:nvGraphicFramePr>
        <p:xfrm>
          <a:off x="2339752" y="4797152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ell 56"/>
          <p:cNvGraphicFramePr>
            <a:graphicFrameLocks noGrp="1"/>
          </p:cNvGraphicFramePr>
          <p:nvPr/>
        </p:nvGraphicFramePr>
        <p:xfrm>
          <a:off x="2339752" y="5877272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" name="Rak pil 58"/>
          <p:cNvCxnSpPr/>
          <p:nvPr/>
        </p:nvCxnSpPr>
        <p:spPr>
          <a:xfrm>
            <a:off x="4716016" y="6093296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ruta 59"/>
          <p:cNvSpPr txBox="1"/>
          <p:nvPr/>
        </p:nvSpPr>
        <p:spPr>
          <a:xfrm>
            <a:off x="2699792" y="5517232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Logits</a:t>
            </a:r>
          </a:p>
        </p:txBody>
      </p:sp>
      <p:sp>
        <p:nvSpPr>
          <p:cNvPr id="61" name="Rektangel 60"/>
          <p:cNvSpPr/>
          <p:nvPr/>
        </p:nvSpPr>
        <p:spPr>
          <a:xfrm>
            <a:off x="8028384" y="5445224"/>
            <a:ext cx="116211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/>
              <a:t>”A</a:t>
            </a:r>
          </a:p>
          <a:p>
            <a:r>
              <a:rPr lang="sv-SE" dirty="0"/>
              <a:t>red</a:t>
            </a:r>
          </a:p>
          <a:p>
            <a:r>
              <a:rPr lang="sv-SE" dirty="0"/>
              <a:t>fox</a:t>
            </a:r>
          </a:p>
          <a:p>
            <a:r>
              <a:rPr lang="sv-SE" b="1" dirty="0"/>
              <a:t>discovers</a:t>
            </a:r>
            <a:r>
              <a:rPr lang="sv-SE" dirty="0"/>
              <a:t>”</a:t>
            </a:r>
          </a:p>
        </p:txBody>
      </p:sp>
      <p:cxnSp>
        <p:nvCxnSpPr>
          <p:cNvPr id="62" name="Rak 61"/>
          <p:cNvCxnSpPr/>
          <p:nvPr/>
        </p:nvCxnSpPr>
        <p:spPr>
          <a:xfrm>
            <a:off x="6660232" y="260648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Figur 63"/>
          <p:cNvCxnSpPr>
            <a:stCxn id="17" idx="3"/>
            <a:endCxn id="46" idx="1"/>
          </p:cNvCxnSpPr>
          <p:nvPr/>
        </p:nvCxnSpPr>
        <p:spPr>
          <a:xfrm flipH="1">
            <a:off x="251520" y="1628800"/>
            <a:ext cx="8064896" cy="3312368"/>
          </a:xfrm>
          <a:prstGeom prst="bentConnector5">
            <a:avLst>
              <a:gd name="adj1" fmla="val -2835"/>
              <a:gd name="adj2" fmla="val 47228"/>
              <a:gd name="adj3" fmla="val 10253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ktangel 70"/>
          <p:cNvSpPr/>
          <p:nvPr/>
        </p:nvSpPr>
        <p:spPr>
          <a:xfrm>
            <a:off x="6804248" y="5589240"/>
            <a:ext cx="1008112" cy="100811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Sampler</a:t>
            </a:r>
          </a:p>
        </p:txBody>
      </p:sp>
      <p:cxnSp>
        <p:nvCxnSpPr>
          <p:cNvPr id="73" name="Rak pil 72"/>
          <p:cNvCxnSpPr/>
          <p:nvPr/>
        </p:nvCxnSpPr>
        <p:spPr>
          <a:xfrm>
            <a:off x="6588224" y="6093296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ell 76"/>
          <p:cNvGraphicFramePr>
            <a:graphicFrameLocks noGrp="1"/>
          </p:cNvGraphicFramePr>
          <p:nvPr/>
        </p:nvGraphicFramePr>
        <p:xfrm>
          <a:off x="4932040" y="5949280"/>
          <a:ext cx="16662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1" name="textruta 80"/>
          <p:cNvSpPr txBox="1"/>
          <p:nvPr/>
        </p:nvSpPr>
        <p:spPr>
          <a:xfrm>
            <a:off x="5148064" y="5589240"/>
            <a:ext cx="13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Probabilities</a:t>
            </a:r>
          </a:p>
        </p:txBody>
      </p:sp>
      <p:cxnSp>
        <p:nvCxnSpPr>
          <p:cNvPr id="84" name="Rak pil 83"/>
          <p:cNvCxnSpPr/>
          <p:nvPr/>
        </p:nvCxnSpPr>
        <p:spPr>
          <a:xfrm>
            <a:off x="7812360" y="6093296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Figur 38"/>
          <p:cNvCxnSpPr>
            <a:endCxn id="7" idx="0"/>
          </p:cNvCxnSpPr>
          <p:nvPr/>
        </p:nvCxnSpPr>
        <p:spPr>
          <a:xfrm rot="10800000">
            <a:off x="841362" y="1268760"/>
            <a:ext cx="7691079" cy="4680520"/>
          </a:xfrm>
          <a:prstGeom prst="bentConnector4">
            <a:avLst>
              <a:gd name="adj1" fmla="val -4934"/>
              <a:gd name="adj2" fmla="val 126232"/>
            </a:avLst>
          </a:prstGeom>
          <a:ln w="381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4D8E0-B66D-58F8-85DC-F4C7BE97C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ktangel 87">
            <a:extLst>
              <a:ext uri="{FF2B5EF4-FFF2-40B4-BE49-F238E27FC236}">
                <a16:creationId xmlns:a16="http://schemas.microsoft.com/office/drawing/2014/main" id="{547170EA-4B33-FAD4-8D51-AEB447D711CA}"/>
              </a:ext>
            </a:extLst>
          </p:cNvPr>
          <p:cNvSpPr/>
          <p:nvPr/>
        </p:nvSpPr>
        <p:spPr>
          <a:xfrm>
            <a:off x="1475656" y="116632"/>
            <a:ext cx="5256584" cy="2952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Input Embedder</a:t>
            </a:r>
          </a:p>
        </p:txBody>
      </p:sp>
      <p:sp>
        <p:nvSpPr>
          <p:cNvPr id="86" name="Rektangel 85">
            <a:extLst>
              <a:ext uri="{FF2B5EF4-FFF2-40B4-BE49-F238E27FC236}">
                <a16:creationId xmlns:a16="http://schemas.microsoft.com/office/drawing/2014/main" id="{1F2AE3DB-BCB6-1BB3-6262-B1CC7FECA5C1}"/>
              </a:ext>
            </a:extLst>
          </p:cNvPr>
          <p:cNvSpPr/>
          <p:nvPr/>
        </p:nvSpPr>
        <p:spPr>
          <a:xfrm>
            <a:off x="1043608" y="3284984"/>
            <a:ext cx="5119589" cy="30963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Head</a:t>
            </a:r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EA4711EA-20C9-F764-4AA1-31A803AC6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7098734"/>
              </p:ext>
            </p:extLst>
          </p:nvPr>
        </p:nvGraphicFramePr>
        <p:xfrm>
          <a:off x="5652120" y="111934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0DBC72E9-FAC4-89D9-F2CF-72625E0539EF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249289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l 5">
            <a:extLst>
              <a:ext uri="{FF2B5EF4-FFF2-40B4-BE49-F238E27FC236}">
                <a16:creationId xmlns:a16="http://schemas.microsoft.com/office/drawing/2014/main" id="{33A5C048-39FE-BE3A-3857-9D4E23BB6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601960"/>
              </p:ext>
            </p:extLst>
          </p:nvPr>
        </p:nvGraphicFramePr>
        <p:xfrm>
          <a:off x="5644274" y="1772816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ruta 6">
            <a:extLst>
              <a:ext uri="{FF2B5EF4-FFF2-40B4-BE49-F238E27FC236}">
                <a16:creationId xmlns:a16="http://schemas.microsoft.com/office/drawing/2014/main" id="{19EF2547-7EA8-6A69-8EB0-89F61F6BDC16}"/>
              </a:ext>
            </a:extLst>
          </p:cNvPr>
          <p:cNvSpPr txBox="1"/>
          <p:nvPr/>
        </p:nvSpPr>
        <p:spPr>
          <a:xfrm>
            <a:off x="59368" y="1023119"/>
            <a:ext cx="1344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”A </a:t>
            </a:r>
          </a:p>
          <a:p>
            <a:r>
              <a:rPr lang="sv-SE" dirty="0"/>
              <a:t>handwritten</a:t>
            </a:r>
          </a:p>
          <a:p>
            <a:r>
              <a:rPr lang="sv-SE" dirty="0"/>
              <a:t>seven”</a:t>
            </a: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5685CF98-F0D1-ED14-C668-1E137ACD9B31}"/>
              </a:ext>
            </a:extLst>
          </p:cNvPr>
          <p:cNvSpPr/>
          <p:nvPr/>
        </p:nvSpPr>
        <p:spPr>
          <a:xfrm>
            <a:off x="1691680" y="764704"/>
            <a:ext cx="1080120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Tokenizer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5C0A9BA3-7570-0901-0FF0-D8F3A4E63630}"/>
              </a:ext>
            </a:extLst>
          </p:cNvPr>
          <p:cNvSpPr/>
          <p:nvPr/>
        </p:nvSpPr>
        <p:spPr>
          <a:xfrm>
            <a:off x="3995936" y="764704"/>
            <a:ext cx="1152128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Input Embedder</a:t>
            </a:r>
          </a:p>
        </p:txBody>
      </p:sp>
      <p:cxnSp>
        <p:nvCxnSpPr>
          <p:cNvPr id="12" name="Rak pil 11">
            <a:extLst>
              <a:ext uri="{FF2B5EF4-FFF2-40B4-BE49-F238E27FC236}">
                <a16:creationId xmlns:a16="http://schemas.microsoft.com/office/drawing/2014/main" id="{93BE557F-486B-2CAB-517C-7F68EFE98A23}"/>
              </a:ext>
            </a:extLst>
          </p:cNvPr>
          <p:cNvCxnSpPr/>
          <p:nvPr/>
        </p:nvCxnSpPr>
        <p:spPr>
          <a:xfrm>
            <a:off x="1403648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ak pil 15">
            <a:extLst>
              <a:ext uri="{FF2B5EF4-FFF2-40B4-BE49-F238E27FC236}">
                <a16:creationId xmlns:a16="http://schemas.microsoft.com/office/drawing/2014/main" id="{95734BCE-B3DB-4672-0528-4AD2B5AB7AF2}"/>
              </a:ext>
            </a:extLst>
          </p:cNvPr>
          <p:cNvCxnSpPr/>
          <p:nvPr/>
        </p:nvCxnSpPr>
        <p:spPr>
          <a:xfrm>
            <a:off x="2771800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ell 23">
            <a:extLst>
              <a:ext uri="{FF2B5EF4-FFF2-40B4-BE49-F238E27FC236}">
                <a16:creationId xmlns:a16="http://schemas.microsoft.com/office/drawing/2014/main" id="{709F0385-F900-E258-C2CC-C8D0936E0243}"/>
              </a:ext>
            </a:extLst>
          </p:cNvPr>
          <p:cNvGraphicFramePr>
            <a:graphicFrameLocks noGrp="1"/>
          </p:cNvGraphicFramePr>
          <p:nvPr/>
        </p:nvGraphicFramePr>
        <p:xfrm>
          <a:off x="3059832" y="764704"/>
          <a:ext cx="648072" cy="1512168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r>
                        <a:rPr lang="sv-SE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sv-SE" dirty="0"/>
                        <a:t>1337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r>
                        <a:rPr lang="sv-SE" dirty="0"/>
                        <a:t>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5" name="Rak pil 24">
            <a:extLst>
              <a:ext uri="{FF2B5EF4-FFF2-40B4-BE49-F238E27FC236}">
                <a16:creationId xmlns:a16="http://schemas.microsoft.com/office/drawing/2014/main" id="{53BCB9A2-4881-177F-6B3D-E3F3EF87C504}"/>
              </a:ext>
            </a:extLst>
          </p:cNvPr>
          <p:cNvCxnSpPr/>
          <p:nvPr/>
        </p:nvCxnSpPr>
        <p:spPr>
          <a:xfrm>
            <a:off x="3707904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ak 25">
            <a:extLst>
              <a:ext uri="{FF2B5EF4-FFF2-40B4-BE49-F238E27FC236}">
                <a16:creationId xmlns:a16="http://schemas.microsoft.com/office/drawing/2014/main" id="{DED0BEB4-3CF6-F22D-4D00-73497A2710B4}"/>
              </a:ext>
            </a:extLst>
          </p:cNvPr>
          <p:cNvCxnSpPr/>
          <p:nvPr/>
        </p:nvCxnSpPr>
        <p:spPr>
          <a:xfrm>
            <a:off x="5436096" y="260648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Rak pil 26">
            <a:extLst>
              <a:ext uri="{FF2B5EF4-FFF2-40B4-BE49-F238E27FC236}">
                <a16:creationId xmlns:a16="http://schemas.microsoft.com/office/drawing/2014/main" id="{D0DA3785-F6E2-989F-FDD6-01EA6ABB67F8}"/>
              </a:ext>
            </a:extLst>
          </p:cNvPr>
          <p:cNvCxnSpPr/>
          <p:nvPr/>
        </p:nvCxnSpPr>
        <p:spPr>
          <a:xfrm>
            <a:off x="5148064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ktangel 16">
            <a:extLst>
              <a:ext uri="{FF2B5EF4-FFF2-40B4-BE49-F238E27FC236}">
                <a16:creationId xmlns:a16="http://schemas.microsoft.com/office/drawing/2014/main" id="{A97778B5-CC98-E4EB-A964-DA03540A9972}"/>
              </a:ext>
            </a:extLst>
          </p:cNvPr>
          <p:cNvSpPr/>
          <p:nvPr/>
        </p:nvSpPr>
        <p:spPr>
          <a:xfrm>
            <a:off x="6948264" y="908720"/>
            <a:ext cx="1368152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Transformer </a:t>
            </a:r>
          </a:p>
        </p:txBody>
      </p:sp>
      <p:cxnSp>
        <p:nvCxnSpPr>
          <p:cNvPr id="20" name="Rak pil 19">
            <a:extLst>
              <a:ext uri="{FF2B5EF4-FFF2-40B4-BE49-F238E27FC236}">
                <a16:creationId xmlns:a16="http://schemas.microsoft.com/office/drawing/2014/main" id="{0E80B349-0E9D-03A8-48F9-029A79875C6B}"/>
              </a:ext>
            </a:extLst>
          </p:cNvPr>
          <p:cNvCxnSpPr/>
          <p:nvPr/>
        </p:nvCxnSpPr>
        <p:spPr>
          <a:xfrm>
            <a:off x="6660232" y="155679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ktangel 45">
            <a:extLst>
              <a:ext uri="{FF2B5EF4-FFF2-40B4-BE49-F238E27FC236}">
                <a16:creationId xmlns:a16="http://schemas.microsoft.com/office/drawing/2014/main" id="{55DDE29D-EEB5-CE7A-5CCE-DF6A24F76A12}"/>
              </a:ext>
            </a:extLst>
          </p:cNvPr>
          <p:cNvSpPr/>
          <p:nvPr/>
        </p:nvSpPr>
        <p:spPr>
          <a:xfrm>
            <a:off x="251520" y="4437112"/>
            <a:ext cx="720080" cy="10081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Layer</a:t>
            </a:r>
          </a:p>
          <a:p>
            <a:pPr algn="ctr"/>
            <a:r>
              <a:rPr lang="sv-SE" dirty="0"/>
              <a:t>Norm</a:t>
            </a:r>
          </a:p>
        </p:txBody>
      </p:sp>
      <p:sp>
        <p:nvSpPr>
          <p:cNvPr id="49" name="Rektangel 48">
            <a:extLst>
              <a:ext uri="{FF2B5EF4-FFF2-40B4-BE49-F238E27FC236}">
                <a16:creationId xmlns:a16="http://schemas.microsoft.com/office/drawing/2014/main" id="{FE15FB84-13AC-69B7-E31B-6E9C0EF080CC}"/>
              </a:ext>
            </a:extLst>
          </p:cNvPr>
          <p:cNvSpPr/>
          <p:nvPr/>
        </p:nvSpPr>
        <p:spPr>
          <a:xfrm>
            <a:off x="3329433" y="3578827"/>
            <a:ext cx="792088" cy="70527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cxnSp>
        <p:nvCxnSpPr>
          <p:cNvPr id="50" name="Rak pil 49">
            <a:extLst>
              <a:ext uri="{FF2B5EF4-FFF2-40B4-BE49-F238E27FC236}">
                <a16:creationId xmlns:a16="http://schemas.microsoft.com/office/drawing/2014/main" id="{01C1A841-5336-14D3-1656-A4433990785D}"/>
              </a:ext>
            </a:extLst>
          </p:cNvPr>
          <p:cNvCxnSpPr>
            <a:stCxn id="46" idx="3"/>
          </p:cNvCxnSpPr>
          <p:nvPr/>
        </p:nvCxnSpPr>
        <p:spPr>
          <a:xfrm>
            <a:off x="971600" y="4941168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ak pil 50">
            <a:extLst>
              <a:ext uri="{FF2B5EF4-FFF2-40B4-BE49-F238E27FC236}">
                <a16:creationId xmlns:a16="http://schemas.microsoft.com/office/drawing/2014/main" id="{1A2A196B-7667-ED19-3D30-3095C52E8AED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2837537" y="3916141"/>
            <a:ext cx="49189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ell 53">
            <a:extLst>
              <a:ext uri="{FF2B5EF4-FFF2-40B4-BE49-F238E27FC236}">
                <a16:creationId xmlns:a16="http://schemas.microsoft.com/office/drawing/2014/main" id="{FFE5957F-C85A-8013-F935-4A7CE35AF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228911"/>
              </p:ext>
            </p:extLst>
          </p:nvPr>
        </p:nvGraphicFramePr>
        <p:xfrm>
          <a:off x="1379577" y="4365214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Tabell 55">
            <a:extLst>
              <a:ext uri="{FF2B5EF4-FFF2-40B4-BE49-F238E27FC236}">
                <a16:creationId xmlns:a16="http://schemas.microsoft.com/office/drawing/2014/main" id="{D6A15F78-1CA2-EF30-400F-CA9CBF204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52859"/>
              </p:ext>
            </p:extLst>
          </p:nvPr>
        </p:nvGraphicFramePr>
        <p:xfrm>
          <a:off x="1377791" y="5151472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ell 56">
            <a:extLst>
              <a:ext uri="{FF2B5EF4-FFF2-40B4-BE49-F238E27FC236}">
                <a16:creationId xmlns:a16="http://schemas.microsoft.com/office/drawing/2014/main" id="{B0FD859C-D756-7DFA-36C4-D9B1CD02C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83821"/>
              </p:ext>
            </p:extLst>
          </p:nvPr>
        </p:nvGraphicFramePr>
        <p:xfrm>
          <a:off x="1378827" y="5805264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Rak 61">
            <a:extLst>
              <a:ext uri="{FF2B5EF4-FFF2-40B4-BE49-F238E27FC236}">
                <a16:creationId xmlns:a16="http://schemas.microsoft.com/office/drawing/2014/main" id="{1895B3A2-3F61-11A2-5C39-A4B7B1ED0296}"/>
              </a:ext>
            </a:extLst>
          </p:cNvPr>
          <p:cNvCxnSpPr/>
          <p:nvPr/>
        </p:nvCxnSpPr>
        <p:spPr>
          <a:xfrm>
            <a:off x="6660232" y="260648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Figur 63">
            <a:extLst>
              <a:ext uri="{FF2B5EF4-FFF2-40B4-BE49-F238E27FC236}">
                <a16:creationId xmlns:a16="http://schemas.microsoft.com/office/drawing/2014/main" id="{0BCABEE6-A3C0-AD3D-671E-3DD807079980}"/>
              </a:ext>
            </a:extLst>
          </p:cNvPr>
          <p:cNvCxnSpPr>
            <a:stCxn id="17" idx="3"/>
            <a:endCxn id="46" idx="1"/>
          </p:cNvCxnSpPr>
          <p:nvPr/>
        </p:nvCxnSpPr>
        <p:spPr>
          <a:xfrm flipH="1">
            <a:off x="251520" y="1628800"/>
            <a:ext cx="8064896" cy="3312368"/>
          </a:xfrm>
          <a:prstGeom prst="bentConnector5">
            <a:avLst>
              <a:gd name="adj1" fmla="val -2835"/>
              <a:gd name="adj2" fmla="val 45886"/>
              <a:gd name="adj3" fmla="val 10253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ktangel 70">
            <a:extLst>
              <a:ext uri="{FF2B5EF4-FFF2-40B4-BE49-F238E27FC236}">
                <a16:creationId xmlns:a16="http://schemas.microsoft.com/office/drawing/2014/main" id="{2FC8F655-A529-02CE-5802-EFD5AD7C5FC1}"/>
              </a:ext>
            </a:extLst>
          </p:cNvPr>
          <p:cNvSpPr/>
          <p:nvPr/>
        </p:nvSpPr>
        <p:spPr>
          <a:xfrm>
            <a:off x="4506400" y="3602633"/>
            <a:ext cx="1132004" cy="70527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Normalize</a:t>
            </a:r>
          </a:p>
        </p:txBody>
      </p:sp>
      <p:cxnSp>
        <p:nvCxnSpPr>
          <p:cNvPr id="73" name="Rak pil 72">
            <a:extLst>
              <a:ext uri="{FF2B5EF4-FFF2-40B4-BE49-F238E27FC236}">
                <a16:creationId xmlns:a16="http://schemas.microsoft.com/office/drawing/2014/main" id="{3B947E81-E004-EC66-C1C4-1F7B4E504F55}"/>
              </a:ext>
            </a:extLst>
          </p:cNvPr>
          <p:cNvCxnSpPr>
            <a:cxnSpLocks/>
            <a:stCxn id="71" idx="3"/>
            <a:endCxn id="23" idx="1"/>
          </p:cNvCxnSpPr>
          <p:nvPr/>
        </p:nvCxnSpPr>
        <p:spPr>
          <a:xfrm>
            <a:off x="5638404" y="3955269"/>
            <a:ext cx="906176" cy="1166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ell 86">
            <a:extLst>
              <a:ext uri="{FF2B5EF4-FFF2-40B4-BE49-F238E27FC236}">
                <a16:creationId xmlns:a16="http://schemas.microsoft.com/office/drawing/2014/main" id="{50D0ED96-83B5-53B0-A8D3-17E0A2B57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845011"/>
              </p:ext>
            </p:extLst>
          </p:nvPr>
        </p:nvGraphicFramePr>
        <p:xfrm>
          <a:off x="5652120" y="476672"/>
          <a:ext cx="83312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ruta 87">
            <a:extLst>
              <a:ext uri="{FF2B5EF4-FFF2-40B4-BE49-F238E27FC236}">
                <a16:creationId xmlns:a16="http://schemas.microsoft.com/office/drawing/2014/main" id="{0DDC4C3C-3AA6-EBA1-42A3-8936C0FD9AB2}"/>
              </a:ext>
            </a:extLst>
          </p:cNvPr>
          <p:cNvSpPr txBox="1"/>
          <p:nvPr/>
        </p:nvSpPr>
        <p:spPr>
          <a:xfrm>
            <a:off x="5796136" y="18864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CLS</a:t>
            </a:r>
          </a:p>
        </p:txBody>
      </p:sp>
      <p:cxnSp>
        <p:nvCxnSpPr>
          <p:cNvPr id="14" name="Rak 54">
            <a:extLst>
              <a:ext uri="{FF2B5EF4-FFF2-40B4-BE49-F238E27FC236}">
                <a16:creationId xmlns:a16="http://schemas.microsoft.com/office/drawing/2014/main" id="{4E89FBEB-8829-AE31-CA03-A0AC34F0264C}"/>
              </a:ext>
            </a:extLst>
          </p:cNvPr>
          <p:cNvCxnSpPr/>
          <p:nvPr/>
        </p:nvCxnSpPr>
        <p:spPr>
          <a:xfrm>
            <a:off x="1259632" y="3515817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ell 86">
            <a:extLst>
              <a:ext uri="{FF2B5EF4-FFF2-40B4-BE49-F238E27FC236}">
                <a16:creationId xmlns:a16="http://schemas.microsoft.com/office/drawing/2014/main" id="{5DE0B876-CD2D-567B-C19F-1505D1261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928937"/>
              </p:ext>
            </p:extLst>
          </p:nvPr>
        </p:nvGraphicFramePr>
        <p:xfrm>
          <a:off x="1379577" y="3730721"/>
          <a:ext cx="145796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9900457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8328947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429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Rak pil 50">
            <a:extLst>
              <a:ext uri="{FF2B5EF4-FFF2-40B4-BE49-F238E27FC236}">
                <a16:creationId xmlns:a16="http://schemas.microsoft.com/office/drawing/2014/main" id="{AFBD5F52-C7C3-BB7A-C9AB-56FD8105001C}"/>
              </a:ext>
            </a:extLst>
          </p:cNvPr>
          <p:cNvCxnSpPr>
            <a:cxnSpLocks/>
          </p:cNvCxnSpPr>
          <p:nvPr/>
        </p:nvCxnSpPr>
        <p:spPr>
          <a:xfrm>
            <a:off x="4121521" y="3946331"/>
            <a:ext cx="384879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ell 86">
            <a:extLst>
              <a:ext uri="{FF2B5EF4-FFF2-40B4-BE49-F238E27FC236}">
                <a16:creationId xmlns:a16="http://schemas.microsoft.com/office/drawing/2014/main" id="{F4A12320-8571-A796-EA92-5CD0D3FEF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211434"/>
              </p:ext>
            </p:extLst>
          </p:nvPr>
        </p:nvGraphicFramePr>
        <p:xfrm>
          <a:off x="6544580" y="3781511"/>
          <a:ext cx="104140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429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" name="textruta 80">
            <a:extLst>
              <a:ext uri="{FF2B5EF4-FFF2-40B4-BE49-F238E27FC236}">
                <a16:creationId xmlns:a16="http://schemas.microsoft.com/office/drawing/2014/main" id="{E7C28108-8DF5-FC24-8CAA-DB95579A98CB}"/>
              </a:ext>
            </a:extLst>
          </p:cNvPr>
          <p:cNvSpPr txBox="1"/>
          <p:nvPr/>
        </p:nvSpPr>
        <p:spPr>
          <a:xfrm>
            <a:off x="6442353" y="3451213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Embedding</a:t>
            </a:r>
          </a:p>
        </p:txBody>
      </p:sp>
    </p:spTree>
    <p:extLst>
      <p:ext uri="{BB962C8B-B14F-4D97-AF65-F5344CB8AC3E}">
        <p14:creationId xmlns:p14="http://schemas.microsoft.com/office/powerpoint/2010/main" val="3719762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ktangel 95"/>
          <p:cNvSpPr/>
          <p:nvPr/>
        </p:nvSpPr>
        <p:spPr>
          <a:xfrm>
            <a:off x="1619672" y="3429000"/>
            <a:ext cx="5760640" cy="33123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Head</a:t>
            </a:r>
          </a:p>
        </p:txBody>
      </p:sp>
      <p:sp>
        <p:nvSpPr>
          <p:cNvPr id="95" name="Rektangel 94"/>
          <p:cNvSpPr/>
          <p:nvPr/>
        </p:nvSpPr>
        <p:spPr>
          <a:xfrm>
            <a:off x="323528" y="116632"/>
            <a:ext cx="6408712" cy="30243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sv-SE" dirty="0"/>
              <a:t>Input Embedder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1368152" cy="1360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2" name="Tabell 21"/>
          <p:cNvGraphicFramePr>
            <a:graphicFrameLocks noGrp="1"/>
          </p:cNvGraphicFramePr>
          <p:nvPr/>
        </p:nvGraphicFramePr>
        <p:xfrm>
          <a:off x="395536" y="908720"/>
          <a:ext cx="1368152" cy="1389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ell 22"/>
          <p:cNvGraphicFramePr>
            <a:graphicFrameLocks noGrp="1"/>
          </p:cNvGraphicFramePr>
          <p:nvPr/>
        </p:nvGraphicFramePr>
        <p:xfrm>
          <a:off x="2339752" y="692696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ell 23"/>
          <p:cNvGraphicFramePr>
            <a:graphicFrameLocks noGrp="1"/>
          </p:cNvGraphicFramePr>
          <p:nvPr/>
        </p:nvGraphicFramePr>
        <p:xfrm>
          <a:off x="2339752" y="1700808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ell 28"/>
          <p:cNvGraphicFramePr>
            <a:graphicFrameLocks noGrp="1"/>
          </p:cNvGraphicFramePr>
          <p:nvPr/>
        </p:nvGraphicFramePr>
        <p:xfrm>
          <a:off x="2339752" y="1196752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ell 29"/>
          <p:cNvGraphicFramePr>
            <a:graphicFrameLocks noGrp="1"/>
          </p:cNvGraphicFramePr>
          <p:nvPr/>
        </p:nvGraphicFramePr>
        <p:xfrm>
          <a:off x="2339752" y="2204864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Rak pil 31"/>
          <p:cNvCxnSpPr/>
          <p:nvPr/>
        </p:nvCxnSpPr>
        <p:spPr>
          <a:xfrm>
            <a:off x="1763688" y="1556792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ak 32"/>
          <p:cNvCxnSpPr/>
          <p:nvPr/>
        </p:nvCxnSpPr>
        <p:spPr>
          <a:xfrm>
            <a:off x="3995936" y="188640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ak pil 33"/>
          <p:cNvCxnSpPr/>
          <p:nvPr/>
        </p:nvCxnSpPr>
        <p:spPr>
          <a:xfrm>
            <a:off x="3995936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l 34"/>
          <p:cNvGraphicFramePr>
            <a:graphicFrameLocks noGrp="1"/>
          </p:cNvGraphicFramePr>
          <p:nvPr/>
        </p:nvGraphicFramePr>
        <p:xfrm>
          <a:off x="5652120" y="98072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ell 35"/>
          <p:cNvGraphicFramePr>
            <a:graphicFrameLocks noGrp="1"/>
          </p:cNvGraphicFramePr>
          <p:nvPr/>
        </p:nvGraphicFramePr>
        <p:xfrm>
          <a:off x="5652120" y="255410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ell 36"/>
          <p:cNvGraphicFramePr>
            <a:graphicFrameLocks noGrp="1"/>
          </p:cNvGraphicFramePr>
          <p:nvPr/>
        </p:nvGraphicFramePr>
        <p:xfrm>
          <a:off x="5652120" y="148478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Rektangel 38"/>
          <p:cNvSpPr/>
          <p:nvPr/>
        </p:nvSpPr>
        <p:spPr>
          <a:xfrm>
            <a:off x="4283968" y="764704"/>
            <a:ext cx="792088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cxnSp>
        <p:nvCxnSpPr>
          <p:cNvPr id="41" name="Rak pil 40"/>
          <p:cNvCxnSpPr/>
          <p:nvPr/>
        </p:nvCxnSpPr>
        <p:spPr>
          <a:xfrm>
            <a:off x="5076056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ak 41"/>
          <p:cNvCxnSpPr/>
          <p:nvPr/>
        </p:nvCxnSpPr>
        <p:spPr>
          <a:xfrm>
            <a:off x="5364088" y="188640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ell 42"/>
          <p:cNvGraphicFramePr>
            <a:graphicFrameLocks noGrp="1"/>
          </p:cNvGraphicFramePr>
          <p:nvPr/>
        </p:nvGraphicFramePr>
        <p:xfrm>
          <a:off x="5652120" y="205004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Rektangel 43"/>
          <p:cNvSpPr/>
          <p:nvPr/>
        </p:nvSpPr>
        <p:spPr>
          <a:xfrm>
            <a:off x="6948264" y="836712"/>
            <a:ext cx="1368152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Transformer </a:t>
            </a:r>
          </a:p>
        </p:txBody>
      </p:sp>
      <p:cxnSp>
        <p:nvCxnSpPr>
          <p:cNvPr id="45" name="Figur 44"/>
          <p:cNvCxnSpPr>
            <a:stCxn id="44" idx="3"/>
            <a:endCxn id="48" idx="1"/>
          </p:cNvCxnSpPr>
          <p:nvPr/>
        </p:nvCxnSpPr>
        <p:spPr>
          <a:xfrm flipH="1">
            <a:off x="755576" y="1556792"/>
            <a:ext cx="7560840" cy="3672408"/>
          </a:xfrm>
          <a:prstGeom prst="bentConnector5">
            <a:avLst>
              <a:gd name="adj1" fmla="val -3023"/>
              <a:gd name="adj2" fmla="val 46510"/>
              <a:gd name="adj3" fmla="val 10302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ak pil 45"/>
          <p:cNvCxnSpPr/>
          <p:nvPr/>
        </p:nvCxnSpPr>
        <p:spPr>
          <a:xfrm>
            <a:off x="6660232" y="155679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46"/>
          <p:cNvCxnSpPr/>
          <p:nvPr/>
        </p:nvCxnSpPr>
        <p:spPr>
          <a:xfrm>
            <a:off x="6660232" y="260648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ktangel 47"/>
          <p:cNvSpPr/>
          <p:nvPr/>
        </p:nvSpPr>
        <p:spPr>
          <a:xfrm>
            <a:off x="755576" y="4725144"/>
            <a:ext cx="720080" cy="10081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Layer</a:t>
            </a:r>
          </a:p>
          <a:p>
            <a:pPr algn="ctr"/>
            <a:r>
              <a:rPr lang="sv-SE" dirty="0"/>
              <a:t>Norm</a:t>
            </a:r>
          </a:p>
        </p:txBody>
      </p:sp>
      <p:sp>
        <p:nvSpPr>
          <p:cNvPr id="49" name="Rektangel 48"/>
          <p:cNvSpPr/>
          <p:nvPr/>
        </p:nvSpPr>
        <p:spPr>
          <a:xfrm>
            <a:off x="1835696" y="4509120"/>
            <a:ext cx="792088" cy="151216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cxnSp>
        <p:nvCxnSpPr>
          <p:cNvPr id="50" name="Rak pil 49"/>
          <p:cNvCxnSpPr>
            <a:stCxn id="48" idx="3"/>
          </p:cNvCxnSpPr>
          <p:nvPr/>
        </p:nvCxnSpPr>
        <p:spPr>
          <a:xfrm>
            <a:off x="1475656" y="5229200"/>
            <a:ext cx="3600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Rak pil 50"/>
          <p:cNvCxnSpPr/>
          <p:nvPr/>
        </p:nvCxnSpPr>
        <p:spPr>
          <a:xfrm>
            <a:off x="2627784" y="5229200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ktangel 51"/>
          <p:cNvSpPr/>
          <p:nvPr/>
        </p:nvSpPr>
        <p:spPr>
          <a:xfrm>
            <a:off x="4644008" y="3861048"/>
            <a:ext cx="648072" cy="100811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SoftMax</a:t>
            </a:r>
          </a:p>
        </p:txBody>
      </p:sp>
      <p:cxnSp>
        <p:nvCxnSpPr>
          <p:cNvPr id="53" name="Rak pil 52"/>
          <p:cNvCxnSpPr/>
          <p:nvPr/>
        </p:nvCxnSpPr>
        <p:spPr>
          <a:xfrm>
            <a:off x="4355976" y="436510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ell 53"/>
          <p:cNvGraphicFramePr>
            <a:graphicFrameLocks noGrp="1"/>
          </p:cNvGraphicFramePr>
          <p:nvPr/>
        </p:nvGraphicFramePr>
        <p:xfrm>
          <a:off x="2915816" y="4653136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Rak 54"/>
          <p:cNvCxnSpPr/>
          <p:nvPr/>
        </p:nvCxnSpPr>
        <p:spPr>
          <a:xfrm>
            <a:off x="2843808" y="3933056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ell 55"/>
          <p:cNvGraphicFramePr>
            <a:graphicFrameLocks noGrp="1"/>
          </p:cNvGraphicFramePr>
          <p:nvPr/>
        </p:nvGraphicFramePr>
        <p:xfrm>
          <a:off x="2915816" y="5157192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ell 56"/>
          <p:cNvGraphicFramePr>
            <a:graphicFrameLocks noGrp="1"/>
          </p:cNvGraphicFramePr>
          <p:nvPr/>
        </p:nvGraphicFramePr>
        <p:xfrm>
          <a:off x="2915816" y="6165304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8" name="Rak pil 57"/>
          <p:cNvCxnSpPr/>
          <p:nvPr/>
        </p:nvCxnSpPr>
        <p:spPr>
          <a:xfrm>
            <a:off x="5292080" y="4365104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ruta 58"/>
          <p:cNvSpPr txBox="1"/>
          <p:nvPr/>
        </p:nvSpPr>
        <p:spPr>
          <a:xfrm>
            <a:off x="3275856" y="3789040"/>
            <a:ext cx="732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Logits</a:t>
            </a:r>
          </a:p>
        </p:txBody>
      </p:sp>
      <p:sp>
        <p:nvSpPr>
          <p:cNvPr id="60" name="Rektangel 59"/>
          <p:cNvSpPr/>
          <p:nvPr/>
        </p:nvSpPr>
        <p:spPr>
          <a:xfrm>
            <a:off x="7596336" y="4149080"/>
            <a:ext cx="3016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/>
              <a:t>5</a:t>
            </a:r>
          </a:p>
        </p:txBody>
      </p:sp>
      <p:cxnSp>
        <p:nvCxnSpPr>
          <p:cNvPr id="62" name="Rak pil 61"/>
          <p:cNvCxnSpPr/>
          <p:nvPr/>
        </p:nvCxnSpPr>
        <p:spPr>
          <a:xfrm>
            <a:off x="7164288" y="4365104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ell 62"/>
          <p:cNvGraphicFramePr>
            <a:graphicFrameLocks noGrp="1"/>
          </p:cNvGraphicFramePr>
          <p:nvPr/>
        </p:nvGraphicFramePr>
        <p:xfrm>
          <a:off x="5508104" y="4149080"/>
          <a:ext cx="166624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" name="textruta 63"/>
          <p:cNvSpPr txBox="1"/>
          <p:nvPr/>
        </p:nvSpPr>
        <p:spPr>
          <a:xfrm>
            <a:off x="5724128" y="3789040"/>
            <a:ext cx="13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Probabilities</a:t>
            </a:r>
          </a:p>
        </p:txBody>
      </p:sp>
      <p:graphicFrame>
        <p:nvGraphicFramePr>
          <p:cNvPr id="85" name="Tabell 84"/>
          <p:cNvGraphicFramePr>
            <a:graphicFrameLocks noGrp="1"/>
          </p:cNvGraphicFramePr>
          <p:nvPr/>
        </p:nvGraphicFramePr>
        <p:xfrm>
          <a:off x="2915816" y="5661248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" name="Tabell 86"/>
          <p:cNvGraphicFramePr>
            <a:graphicFrameLocks noGrp="1"/>
          </p:cNvGraphicFramePr>
          <p:nvPr/>
        </p:nvGraphicFramePr>
        <p:xfrm>
          <a:off x="5652120" y="476672"/>
          <a:ext cx="83312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" name="textruta 87"/>
          <p:cNvSpPr txBox="1"/>
          <p:nvPr/>
        </p:nvSpPr>
        <p:spPr>
          <a:xfrm>
            <a:off x="5796136" y="18864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CLS</a:t>
            </a:r>
          </a:p>
        </p:txBody>
      </p:sp>
      <p:graphicFrame>
        <p:nvGraphicFramePr>
          <p:cNvPr id="89" name="Tabell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777141"/>
              </p:ext>
            </p:extLst>
          </p:nvPr>
        </p:nvGraphicFramePr>
        <p:xfrm>
          <a:off x="2915816" y="4149080"/>
          <a:ext cx="1428204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8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CAB5-5682-7385-9229-711D5D231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ktangel 95">
            <a:extLst>
              <a:ext uri="{FF2B5EF4-FFF2-40B4-BE49-F238E27FC236}">
                <a16:creationId xmlns:a16="http://schemas.microsoft.com/office/drawing/2014/main" id="{AB74FB57-90CB-F7DE-744E-B2A640B62E39}"/>
              </a:ext>
            </a:extLst>
          </p:cNvPr>
          <p:cNvSpPr/>
          <p:nvPr/>
        </p:nvSpPr>
        <p:spPr>
          <a:xfrm>
            <a:off x="1619672" y="3429000"/>
            <a:ext cx="5256584" cy="33123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sv-SE" dirty="0"/>
              <a:t>Head</a:t>
            </a:r>
          </a:p>
        </p:txBody>
      </p:sp>
      <p:sp>
        <p:nvSpPr>
          <p:cNvPr id="95" name="Rektangel 94">
            <a:extLst>
              <a:ext uri="{FF2B5EF4-FFF2-40B4-BE49-F238E27FC236}">
                <a16:creationId xmlns:a16="http://schemas.microsoft.com/office/drawing/2014/main" id="{44D330B8-9B1A-4FA2-0EFA-F04409E66CEE}"/>
              </a:ext>
            </a:extLst>
          </p:cNvPr>
          <p:cNvSpPr/>
          <p:nvPr/>
        </p:nvSpPr>
        <p:spPr>
          <a:xfrm>
            <a:off x="323528" y="116632"/>
            <a:ext cx="6408712" cy="30243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sv-SE" dirty="0"/>
              <a:t>Input Embedder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1B3EBA-4D47-1570-E614-01338557B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08720"/>
            <a:ext cx="1368152" cy="1360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2" name="Tabell 21">
            <a:extLst>
              <a:ext uri="{FF2B5EF4-FFF2-40B4-BE49-F238E27FC236}">
                <a16:creationId xmlns:a16="http://schemas.microsoft.com/office/drawing/2014/main" id="{98D86EB5-6660-A338-23CE-E7F3E5AF83FF}"/>
              </a:ext>
            </a:extLst>
          </p:cNvPr>
          <p:cNvGraphicFramePr>
            <a:graphicFrameLocks noGrp="1"/>
          </p:cNvGraphicFramePr>
          <p:nvPr/>
        </p:nvGraphicFramePr>
        <p:xfrm>
          <a:off x="395536" y="908720"/>
          <a:ext cx="1368152" cy="1389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ell 22">
            <a:extLst>
              <a:ext uri="{FF2B5EF4-FFF2-40B4-BE49-F238E27FC236}">
                <a16:creationId xmlns:a16="http://schemas.microsoft.com/office/drawing/2014/main" id="{147AC658-D1C3-2F2E-446E-13A3FBE8D5FC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692696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ell 23">
            <a:extLst>
              <a:ext uri="{FF2B5EF4-FFF2-40B4-BE49-F238E27FC236}">
                <a16:creationId xmlns:a16="http://schemas.microsoft.com/office/drawing/2014/main" id="{9FD79F94-1E0D-462E-00C7-9A1BB83331F3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1700808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" name="Tabell 28">
            <a:extLst>
              <a:ext uri="{FF2B5EF4-FFF2-40B4-BE49-F238E27FC236}">
                <a16:creationId xmlns:a16="http://schemas.microsoft.com/office/drawing/2014/main" id="{3A700E4C-C650-9FCC-5D56-C67A21B85CFE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1196752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Tabell 29">
            <a:extLst>
              <a:ext uri="{FF2B5EF4-FFF2-40B4-BE49-F238E27FC236}">
                <a16:creationId xmlns:a16="http://schemas.microsoft.com/office/drawing/2014/main" id="{51334163-9B43-4E7D-AB0B-81A4A55B3583}"/>
              </a:ext>
            </a:extLst>
          </p:cNvPr>
          <p:cNvGraphicFramePr>
            <a:graphicFrameLocks noGrp="1"/>
          </p:cNvGraphicFramePr>
          <p:nvPr/>
        </p:nvGraphicFramePr>
        <p:xfrm>
          <a:off x="2339752" y="2204864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2" name="Rak pil 31">
            <a:extLst>
              <a:ext uri="{FF2B5EF4-FFF2-40B4-BE49-F238E27FC236}">
                <a16:creationId xmlns:a16="http://schemas.microsoft.com/office/drawing/2014/main" id="{999EB055-7E3F-CF88-62E3-36E2FC075289}"/>
              </a:ext>
            </a:extLst>
          </p:cNvPr>
          <p:cNvCxnSpPr/>
          <p:nvPr/>
        </p:nvCxnSpPr>
        <p:spPr>
          <a:xfrm>
            <a:off x="1763688" y="1556792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ak 32">
            <a:extLst>
              <a:ext uri="{FF2B5EF4-FFF2-40B4-BE49-F238E27FC236}">
                <a16:creationId xmlns:a16="http://schemas.microsoft.com/office/drawing/2014/main" id="{77B5B78B-6A8A-BB56-B218-38DB59CAB897}"/>
              </a:ext>
            </a:extLst>
          </p:cNvPr>
          <p:cNvCxnSpPr/>
          <p:nvPr/>
        </p:nvCxnSpPr>
        <p:spPr>
          <a:xfrm>
            <a:off x="3995936" y="188640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ak pil 33">
            <a:extLst>
              <a:ext uri="{FF2B5EF4-FFF2-40B4-BE49-F238E27FC236}">
                <a16:creationId xmlns:a16="http://schemas.microsoft.com/office/drawing/2014/main" id="{3431897F-6029-BA77-43E7-28F68FC7E164}"/>
              </a:ext>
            </a:extLst>
          </p:cNvPr>
          <p:cNvCxnSpPr/>
          <p:nvPr/>
        </p:nvCxnSpPr>
        <p:spPr>
          <a:xfrm>
            <a:off x="3995936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Tabell 34">
            <a:extLst>
              <a:ext uri="{FF2B5EF4-FFF2-40B4-BE49-F238E27FC236}">
                <a16:creationId xmlns:a16="http://schemas.microsoft.com/office/drawing/2014/main" id="{A54828D1-C371-5361-B4E8-4305B59E7885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98072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" name="Tabell 35">
            <a:extLst>
              <a:ext uri="{FF2B5EF4-FFF2-40B4-BE49-F238E27FC236}">
                <a16:creationId xmlns:a16="http://schemas.microsoft.com/office/drawing/2014/main" id="{33C52A31-0EB8-4C24-8B4E-5899B0E7818B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255410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Tabell 36">
            <a:extLst>
              <a:ext uri="{FF2B5EF4-FFF2-40B4-BE49-F238E27FC236}">
                <a16:creationId xmlns:a16="http://schemas.microsoft.com/office/drawing/2014/main" id="{41FAB103-DF3B-4EAF-1CF9-D1A763F174DB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148478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Rektangel 38">
            <a:extLst>
              <a:ext uri="{FF2B5EF4-FFF2-40B4-BE49-F238E27FC236}">
                <a16:creationId xmlns:a16="http://schemas.microsoft.com/office/drawing/2014/main" id="{A5E2A1D5-F8E8-5919-1A1D-832570B103A8}"/>
              </a:ext>
            </a:extLst>
          </p:cNvPr>
          <p:cNvSpPr/>
          <p:nvPr/>
        </p:nvSpPr>
        <p:spPr>
          <a:xfrm>
            <a:off x="4283968" y="764704"/>
            <a:ext cx="792088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cxnSp>
        <p:nvCxnSpPr>
          <p:cNvPr id="41" name="Rak pil 40">
            <a:extLst>
              <a:ext uri="{FF2B5EF4-FFF2-40B4-BE49-F238E27FC236}">
                <a16:creationId xmlns:a16="http://schemas.microsoft.com/office/drawing/2014/main" id="{047A6FFE-D9C4-9642-1742-F138AC942486}"/>
              </a:ext>
            </a:extLst>
          </p:cNvPr>
          <p:cNvCxnSpPr/>
          <p:nvPr/>
        </p:nvCxnSpPr>
        <p:spPr>
          <a:xfrm>
            <a:off x="5076056" y="148478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ak 41">
            <a:extLst>
              <a:ext uri="{FF2B5EF4-FFF2-40B4-BE49-F238E27FC236}">
                <a16:creationId xmlns:a16="http://schemas.microsoft.com/office/drawing/2014/main" id="{C83F0F15-7FCD-65DC-EF51-497CC85FC8A3}"/>
              </a:ext>
            </a:extLst>
          </p:cNvPr>
          <p:cNvCxnSpPr/>
          <p:nvPr/>
        </p:nvCxnSpPr>
        <p:spPr>
          <a:xfrm>
            <a:off x="5364088" y="188640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Tabell 42">
            <a:extLst>
              <a:ext uri="{FF2B5EF4-FFF2-40B4-BE49-F238E27FC236}">
                <a16:creationId xmlns:a16="http://schemas.microsoft.com/office/drawing/2014/main" id="{2B0F9A56-8B85-3864-C948-80F21E701E91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205004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Rektangel 43">
            <a:extLst>
              <a:ext uri="{FF2B5EF4-FFF2-40B4-BE49-F238E27FC236}">
                <a16:creationId xmlns:a16="http://schemas.microsoft.com/office/drawing/2014/main" id="{7C91A125-A4F8-86A4-863A-9F0DEBD06E61}"/>
              </a:ext>
            </a:extLst>
          </p:cNvPr>
          <p:cNvSpPr/>
          <p:nvPr/>
        </p:nvSpPr>
        <p:spPr>
          <a:xfrm>
            <a:off x="6948264" y="836712"/>
            <a:ext cx="1368152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Transformer </a:t>
            </a:r>
          </a:p>
        </p:txBody>
      </p:sp>
      <p:cxnSp>
        <p:nvCxnSpPr>
          <p:cNvPr id="45" name="Figur 44">
            <a:extLst>
              <a:ext uri="{FF2B5EF4-FFF2-40B4-BE49-F238E27FC236}">
                <a16:creationId xmlns:a16="http://schemas.microsoft.com/office/drawing/2014/main" id="{DF5BBC37-82B5-B408-EECC-AA9920D5793D}"/>
              </a:ext>
            </a:extLst>
          </p:cNvPr>
          <p:cNvCxnSpPr>
            <a:stCxn id="44" idx="3"/>
            <a:endCxn id="48" idx="1"/>
          </p:cNvCxnSpPr>
          <p:nvPr/>
        </p:nvCxnSpPr>
        <p:spPr>
          <a:xfrm flipH="1">
            <a:off x="755576" y="1556792"/>
            <a:ext cx="7560840" cy="3672408"/>
          </a:xfrm>
          <a:prstGeom prst="bentConnector5">
            <a:avLst>
              <a:gd name="adj1" fmla="val -3023"/>
              <a:gd name="adj2" fmla="val 46510"/>
              <a:gd name="adj3" fmla="val 10302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ak pil 45">
            <a:extLst>
              <a:ext uri="{FF2B5EF4-FFF2-40B4-BE49-F238E27FC236}">
                <a16:creationId xmlns:a16="http://schemas.microsoft.com/office/drawing/2014/main" id="{E8AB1B29-23A6-7BA6-B1A5-70E58F2B8485}"/>
              </a:ext>
            </a:extLst>
          </p:cNvPr>
          <p:cNvCxnSpPr/>
          <p:nvPr/>
        </p:nvCxnSpPr>
        <p:spPr>
          <a:xfrm>
            <a:off x="6660232" y="155679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46">
            <a:extLst>
              <a:ext uri="{FF2B5EF4-FFF2-40B4-BE49-F238E27FC236}">
                <a16:creationId xmlns:a16="http://schemas.microsoft.com/office/drawing/2014/main" id="{1F72AF2F-57F4-A021-1C52-8CBA3F90A673}"/>
              </a:ext>
            </a:extLst>
          </p:cNvPr>
          <p:cNvCxnSpPr/>
          <p:nvPr/>
        </p:nvCxnSpPr>
        <p:spPr>
          <a:xfrm>
            <a:off x="6660232" y="260648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ktangel 47">
            <a:extLst>
              <a:ext uri="{FF2B5EF4-FFF2-40B4-BE49-F238E27FC236}">
                <a16:creationId xmlns:a16="http://schemas.microsoft.com/office/drawing/2014/main" id="{EAAF18F5-E64A-EB59-6A46-A91DF7CDA4D0}"/>
              </a:ext>
            </a:extLst>
          </p:cNvPr>
          <p:cNvSpPr/>
          <p:nvPr/>
        </p:nvSpPr>
        <p:spPr>
          <a:xfrm>
            <a:off x="755576" y="4725144"/>
            <a:ext cx="720080" cy="10081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Layer</a:t>
            </a:r>
          </a:p>
          <a:p>
            <a:pPr algn="ctr"/>
            <a:r>
              <a:rPr lang="sv-SE" dirty="0"/>
              <a:t>Norm</a:t>
            </a:r>
          </a:p>
        </p:txBody>
      </p:sp>
      <p:sp>
        <p:nvSpPr>
          <p:cNvPr id="49" name="Rektangel 48">
            <a:extLst>
              <a:ext uri="{FF2B5EF4-FFF2-40B4-BE49-F238E27FC236}">
                <a16:creationId xmlns:a16="http://schemas.microsoft.com/office/drawing/2014/main" id="{2D2BAFC0-9833-8F87-CD88-90C7D1255463}"/>
              </a:ext>
            </a:extLst>
          </p:cNvPr>
          <p:cNvSpPr/>
          <p:nvPr/>
        </p:nvSpPr>
        <p:spPr>
          <a:xfrm>
            <a:off x="3775430" y="3897992"/>
            <a:ext cx="792088" cy="7200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cxnSp>
        <p:nvCxnSpPr>
          <p:cNvPr id="50" name="Rak pil 49">
            <a:extLst>
              <a:ext uri="{FF2B5EF4-FFF2-40B4-BE49-F238E27FC236}">
                <a16:creationId xmlns:a16="http://schemas.microsoft.com/office/drawing/2014/main" id="{89B45DDC-D55F-DC48-917C-CD2E5789D0F3}"/>
              </a:ext>
            </a:extLst>
          </p:cNvPr>
          <p:cNvCxnSpPr>
            <a:stCxn id="48" idx="3"/>
          </p:cNvCxnSpPr>
          <p:nvPr/>
        </p:nvCxnSpPr>
        <p:spPr>
          <a:xfrm>
            <a:off x="1475656" y="5229200"/>
            <a:ext cx="3600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ktangel 51">
            <a:extLst>
              <a:ext uri="{FF2B5EF4-FFF2-40B4-BE49-F238E27FC236}">
                <a16:creationId xmlns:a16="http://schemas.microsoft.com/office/drawing/2014/main" id="{FFFEF8B5-8F9F-E431-5E32-9D2F44E1A495}"/>
              </a:ext>
            </a:extLst>
          </p:cNvPr>
          <p:cNvSpPr/>
          <p:nvPr/>
        </p:nvSpPr>
        <p:spPr>
          <a:xfrm>
            <a:off x="5038328" y="3917357"/>
            <a:ext cx="1220606" cy="68134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Normalize</a:t>
            </a:r>
          </a:p>
        </p:txBody>
      </p:sp>
      <p:cxnSp>
        <p:nvCxnSpPr>
          <p:cNvPr id="53" name="Rak pil 52">
            <a:extLst>
              <a:ext uri="{FF2B5EF4-FFF2-40B4-BE49-F238E27FC236}">
                <a16:creationId xmlns:a16="http://schemas.microsoft.com/office/drawing/2014/main" id="{0F3C4FB1-6E27-94D7-772C-5A002D7209F2}"/>
              </a:ext>
            </a:extLst>
          </p:cNvPr>
          <p:cNvCxnSpPr>
            <a:cxnSpLocks/>
          </p:cNvCxnSpPr>
          <p:nvPr/>
        </p:nvCxnSpPr>
        <p:spPr>
          <a:xfrm>
            <a:off x="3415390" y="4262492"/>
            <a:ext cx="36004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4" name="Tabell 53">
            <a:extLst>
              <a:ext uri="{FF2B5EF4-FFF2-40B4-BE49-F238E27FC236}">
                <a16:creationId xmlns:a16="http://schemas.microsoft.com/office/drawing/2014/main" id="{98937CB2-0B30-A94A-544F-053297B950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265940"/>
              </p:ext>
            </p:extLst>
          </p:nvPr>
        </p:nvGraphicFramePr>
        <p:xfrm>
          <a:off x="1957430" y="4581128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Rak 54">
            <a:extLst>
              <a:ext uri="{FF2B5EF4-FFF2-40B4-BE49-F238E27FC236}">
                <a16:creationId xmlns:a16="http://schemas.microsoft.com/office/drawing/2014/main" id="{8E040D9B-223F-6A06-AC3A-16897C8FE40D}"/>
              </a:ext>
            </a:extLst>
          </p:cNvPr>
          <p:cNvCxnSpPr/>
          <p:nvPr/>
        </p:nvCxnSpPr>
        <p:spPr>
          <a:xfrm>
            <a:off x="1885422" y="3861048"/>
            <a:ext cx="0" cy="27363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ell 55">
            <a:extLst>
              <a:ext uri="{FF2B5EF4-FFF2-40B4-BE49-F238E27FC236}">
                <a16:creationId xmlns:a16="http://schemas.microsoft.com/office/drawing/2014/main" id="{868C41A2-2DC4-22F9-4C8A-D95CF0E98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431166"/>
              </p:ext>
            </p:extLst>
          </p:nvPr>
        </p:nvGraphicFramePr>
        <p:xfrm>
          <a:off x="1957430" y="5085184"/>
          <a:ext cx="145796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7" name="Tabell 56">
            <a:extLst>
              <a:ext uri="{FF2B5EF4-FFF2-40B4-BE49-F238E27FC236}">
                <a16:creationId xmlns:a16="http://schemas.microsoft.com/office/drawing/2014/main" id="{5F86D223-B5C1-75F3-970E-436C59E0C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24166"/>
              </p:ext>
            </p:extLst>
          </p:nvPr>
        </p:nvGraphicFramePr>
        <p:xfrm>
          <a:off x="1957430" y="6093296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" name="Rak pil 61">
            <a:extLst>
              <a:ext uri="{FF2B5EF4-FFF2-40B4-BE49-F238E27FC236}">
                <a16:creationId xmlns:a16="http://schemas.microsoft.com/office/drawing/2014/main" id="{B84CBC14-7B55-3A9C-36E7-F66FB3373814}"/>
              </a:ext>
            </a:extLst>
          </p:cNvPr>
          <p:cNvCxnSpPr>
            <a:cxnSpLocks/>
          </p:cNvCxnSpPr>
          <p:nvPr/>
        </p:nvCxnSpPr>
        <p:spPr>
          <a:xfrm>
            <a:off x="6258934" y="4273385"/>
            <a:ext cx="10493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5" name="Tabell 84">
            <a:extLst>
              <a:ext uri="{FF2B5EF4-FFF2-40B4-BE49-F238E27FC236}">
                <a16:creationId xmlns:a16="http://schemas.microsoft.com/office/drawing/2014/main" id="{43CBB6BE-51EE-D4CA-1A41-7613C9171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6702511"/>
              </p:ext>
            </p:extLst>
          </p:nvPr>
        </p:nvGraphicFramePr>
        <p:xfrm>
          <a:off x="1957430" y="5589240"/>
          <a:ext cx="14579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7" name="Tabell 86">
            <a:extLst>
              <a:ext uri="{FF2B5EF4-FFF2-40B4-BE49-F238E27FC236}">
                <a16:creationId xmlns:a16="http://schemas.microsoft.com/office/drawing/2014/main" id="{CBB0733F-4DC3-E59E-6429-C069C0B4A7A7}"/>
              </a:ext>
            </a:extLst>
          </p:cNvPr>
          <p:cNvGraphicFramePr>
            <a:graphicFrameLocks noGrp="1"/>
          </p:cNvGraphicFramePr>
          <p:nvPr/>
        </p:nvGraphicFramePr>
        <p:xfrm>
          <a:off x="5652120" y="476672"/>
          <a:ext cx="83312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8" name="textruta 87">
            <a:extLst>
              <a:ext uri="{FF2B5EF4-FFF2-40B4-BE49-F238E27FC236}">
                <a16:creationId xmlns:a16="http://schemas.microsoft.com/office/drawing/2014/main" id="{452DFAEA-803A-C4C5-A705-1A8B3F6F5F87}"/>
              </a:ext>
            </a:extLst>
          </p:cNvPr>
          <p:cNvSpPr txBox="1"/>
          <p:nvPr/>
        </p:nvSpPr>
        <p:spPr>
          <a:xfrm>
            <a:off x="5796136" y="188640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i="1" dirty="0"/>
              <a:t>CLS</a:t>
            </a:r>
          </a:p>
        </p:txBody>
      </p:sp>
      <p:graphicFrame>
        <p:nvGraphicFramePr>
          <p:cNvPr id="89" name="Tabell 88">
            <a:extLst>
              <a:ext uri="{FF2B5EF4-FFF2-40B4-BE49-F238E27FC236}">
                <a16:creationId xmlns:a16="http://schemas.microsoft.com/office/drawing/2014/main" id="{5E82981A-BBEF-4D72-83AC-990E938489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14665"/>
              </p:ext>
            </p:extLst>
          </p:nvPr>
        </p:nvGraphicFramePr>
        <p:xfrm>
          <a:off x="1957430" y="4077072"/>
          <a:ext cx="1428204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38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80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ruta 63">
            <a:extLst>
              <a:ext uri="{FF2B5EF4-FFF2-40B4-BE49-F238E27FC236}">
                <a16:creationId xmlns:a16="http://schemas.microsoft.com/office/drawing/2014/main" id="{6870B817-7C7E-0DDF-552E-7F05A54DC611}"/>
              </a:ext>
            </a:extLst>
          </p:cNvPr>
          <p:cNvSpPr txBox="1"/>
          <p:nvPr/>
        </p:nvSpPr>
        <p:spPr>
          <a:xfrm>
            <a:off x="7236296" y="37634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Embedding</a:t>
            </a:r>
          </a:p>
        </p:txBody>
      </p:sp>
      <p:cxnSp>
        <p:nvCxnSpPr>
          <p:cNvPr id="8" name="Rak pil 61">
            <a:extLst>
              <a:ext uri="{FF2B5EF4-FFF2-40B4-BE49-F238E27FC236}">
                <a16:creationId xmlns:a16="http://schemas.microsoft.com/office/drawing/2014/main" id="{6F57199D-932D-AAD0-D241-F15C72AA7C72}"/>
              </a:ext>
            </a:extLst>
          </p:cNvPr>
          <p:cNvCxnSpPr/>
          <p:nvPr/>
        </p:nvCxnSpPr>
        <p:spPr>
          <a:xfrm>
            <a:off x="4567518" y="4258031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ell 86">
            <a:extLst>
              <a:ext uri="{FF2B5EF4-FFF2-40B4-BE49-F238E27FC236}">
                <a16:creationId xmlns:a16="http://schemas.microsoft.com/office/drawing/2014/main" id="{A3DE3E3E-E492-4921-F0DC-C8A07029B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765186"/>
              </p:ext>
            </p:extLst>
          </p:nvPr>
        </p:nvGraphicFramePr>
        <p:xfrm>
          <a:off x="7318300" y="4087965"/>
          <a:ext cx="104140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429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9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A4D7-DC37-F613-4C8F-DE18A2DEF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E6BD700-344B-AD12-5D92-591FB425F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556" y="2676644"/>
            <a:ext cx="1368152" cy="1360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2" name="Rak pil 31">
            <a:extLst>
              <a:ext uri="{FF2B5EF4-FFF2-40B4-BE49-F238E27FC236}">
                <a16:creationId xmlns:a16="http://schemas.microsoft.com/office/drawing/2014/main" id="{E2FCC02E-D2B7-3579-2B27-C618631425E1}"/>
              </a:ext>
            </a:extLst>
          </p:cNvPr>
          <p:cNvCxnSpPr/>
          <p:nvPr/>
        </p:nvCxnSpPr>
        <p:spPr>
          <a:xfrm>
            <a:off x="1897708" y="3390344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Rak pil 40">
            <a:extLst>
              <a:ext uri="{FF2B5EF4-FFF2-40B4-BE49-F238E27FC236}">
                <a16:creationId xmlns:a16="http://schemas.microsoft.com/office/drawing/2014/main" id="{4D61900F-EFA8-E55D-6C81-86AF401C577A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2699792" y="1279793"/>
            <a:ext cx="463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Rak 41">
            <a:extLst>
              <a:ext uri="{FF2B5EF4-FFF2-40B4-BE49-F238E27FC236}">
                <a16:creationId xmlns:a16="http://schemas.microsoft.com/office/drawing/2014/main" id="{10E21694-47F3-4A6A-1666-FF808E1BEF29}"/>
              </a:ext>
            </a:extLst>
          </p:cNvPr>
          <p:cNvCxnSpPr>
            <a:cxnSpLocks/>
          </p:cNvCxnSpPr>
          <p:nvPr/>
        </p:nvCxnSpPr>
        <p:spPr>
          <a:xfrm>
            <a:off x="2627784" y="260648"/>
            <a:ext cx="0" cy="211474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ktangel 43">
            <a:extLst>
              <a:ext uri="{FF2B5EF4-FFF2-40B4-BE49-F238E27FC236}">
                <a16:creationId xmlns:a16="http://schemas.microsoft.com/office/drawing/2014/main" id="{963128A1-9225-63CE-9C04-36EAAA400ECD}"/>
              </a:ext>
            </a:extLst>
          </p:cNvPr>
          <p:cNvSpPr/>
          <p:nvPr/>
        </p:nvSpPr>
        <p:spPr>
          <a:xfrm>
            <a:off x="3162816" y="559713"/>
            <a:ext cx="1368152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Text Encoder </a:t>
            </a:r>
          </a:p>
        </p:txBody>
      </p:sp>
      <p:cxnSp>
        <p:nvCxnSpPr>
          <p:cNvPr id="46" name="Rak pil 45">
            <a:extLst>
              <a:ext uri="{FF2B5EF4-FFF2-40B4-BE49-F238E27FC236}">
                <a16:creationId xmlns:a16="http://schemas.microsoft.com/office/drawing/2014/main" id="{D976B859-4060-D262-3233-CF06A9E47E43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4530968" y="1279793"/>
            <a:ext cx="39659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ak 46">
            <a:extLst>
              <a:ext uri="{FF2B5EF4-FFF2-40B4-BE49-F238E27FC236}">
                <a16:creationId xmlns:a16="http://schemas.microsoft.com/office/drawing/2014/main" id="{5345BB85-A4CA-3EF3-0541-73F4D040616C}"/>
              </a:ext>
            </a:extLst>
          </p:cNvPr>
          <p:cNvCxnSpPr>
            <a:cxnSpLocks/>
          </p:cNvCxnSpPr>
          <p:nvPr/>
        </p:nvCxnSpPr>
        <p:spPr>
          <a:xfrm>
            <a:off x="5038328" y="237902"/>
            <a:ext cx="0" cy="2160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ktangel 48">
            <a:extLst>
              <a:ext uri="{FF2B5EF4-FFF2-40B4-BE49-F238E27FC236}">
                <a16:creationId xmlns:a16="http://schemas.microsoft.com/office/drawing/2014/main" id="{CECE06CD-5387-B309-F607-17539F40E56D}"/>
              </a:ext>
            </a:extLst>
          </p:cNvPr>
          <p:cNvSpPr/>
          <p:nvPr/>
        </p:nvSpPr>
        <p:spPr>
          <a:xfrm>
            <a:off x="6684515" y="2996952"/>
            <a:ext cx="1300626" cy="7200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Cosine Simularity</a:t>
            </a:r>
          </a:p>
        </p:txBody>
      </p:sp>
      <p:cxnSp>
        <p:nvCxnSpPr>
          <p:cNvPr id="62" name="Rak pil 61">
            <a:extLst>
              <a:ext uri="{FF2B5EF4-FFF2-40B4-BE49-F238E27FC236}">
                <a16:creationId xmlns:a16="http://schemas.microsoft.com/office/drawing/2014/main" id="{6516FF30-8032-4BA0-351F-6CFC63936C7C}"/>
              </a:ext>
            </a:extLst>
          </p:cNvPr>
          <p:cNvCxnSpPr>
            <a:cxnSpLocks/>
          </p:cNvCxnSpPr>
          <p:nvPr/>
        </p:nvCxnSpPr>
        <p:spPr>
          <a:xfrm>
            <a:off x="3707904" y="3396529"/>
            <a:ext cx="56606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9" name="Tabell 88">
            <a:extLst>
              <a:ext uri="{FF2B5EF4-FFF2-40B4-BE49-F238E27FC236}">
                <a16:creationId xmlns:a16="http://schemas.microsoft.com/office/drawing/2014/main" id="{0F2CFF5E-8066-AB26-51D4-03761B638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877803"/>
              </p:ext>
            </p:extLst>
          </p:nvPr>
        </p:nvGraphicFramePr>
        <p:xfrm>
          <a:off x="6306760" y="4077072"/>
          <a:ext cx="2082800" cy="3708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21489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4055449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62677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8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ell 86">
            <a:extLst>
              <a:ext uri="{FF2B5EF4-FFF2-40B4-BE49-F238E27FC236}">
                <a16:creationId xmlns:a16="http://schemas.microsoft.com/office/drawing/2014/main" id="{6AF8DEBC-A758-C1E1-8000-950B9FE2E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742831"/>
              </p:ext>
            </p:extLst>
          </p:nvPr>
        </p:nvGraphicFramePr>
        <p:xfrm>
          <a:off x="4273972" y="3204924"/>
          <a:ext cx="104140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429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D811D5C-85D2-773F-5686-F9C4C18CCC1C}"/>
              </a:ext>
            </a:extLst>
          </p:cNvPr>
          <p:cNvSpPr txBox="1"/>
          <p:nvPr/>
        </p:nvSpPr>
        <p:spPr>
          <a:xfrm>
            <a:off x="292552" y="387569"/>
            <a:ext cx="2160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dirty="0"/>
              <a:t>”</a:t>
            </a:r>
            <a:r>
              <a:rPr lang="sv-SE" dirty="0"/>
              <a:t>a</a:t>
            </a:r>
            <a:r>
              <a:rPr lang="sv-SE" sz="1800" dirty="0"/>
              <a:t> handwritten</a:t>
            </a:r>
            <a:r>
              <a:rPr lang="sv-SE" dirty="0"/>
              <a:t> </a:t>
            </a:r>
            <a:r>
              <a:rPr lang="sv-SE" sz="1800" dirty="0"/>
              <a:t>zero”</a:t>
            </a:r>
          </a:p>
          <a:p>
            <a:r>
              <a:rPr lang="sv-SE" dirty="0"/>
              <a:t>”a handwritten one”</a:t>
            </a:r>
          </a:p>
          <a:p>
            <a:r>
              <a:rPr lang="sv-SE" dirty="0"/>
              <a:t>.</a:t>
            </a:r>
          </a:p>
          <a:p>
            <a:r>
              <a:rPr lang="sv-SE" dirty="0"/>
              <a:t>.</a:t>
            </a:r>
          </a:p>
          <a:p>
            <a:r>
              <a:rPr lang="sv-SE" dirty="0"/>
              <a:t>.</a:t>
            </a:r>
          </a:p>
          <a:p>
            <a:r>
              <a:rPr lang="sv-SE" dirty="0"/>
              <a:t>”a handwritten nine”</a:t>
            </a:r>
          </a:p>
        </p:txBody>
      </p:sp>
      <p:graphicFrame>
        <p:nvGraphicFramePr>
          <p:cNvPr id="11" name="Tabell 86">
            <a:extLst>
              <a:ext uri="{FF2B5EF4-FFF2-40B4-BE49-F238E27FC236}">
                <a16:creationId xmlns:a16="http://schemas.microsoft.com/office/drawing/2014/main" id="{E8CA0232-C2C5-6C33-F550-7600AF6E64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705217"/>
              </p:ext>
            </p:extLst>
          </p:nvPr>
        </p:nvGraphicFramePr>
        <p:xfrm>
          <a:off x="5289520" y="210074"/>
          <a:ext cx="104140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429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ell 86">
            <a:extLst>
              <a:ext uri="{FF2B5EF4-FFF2-40B4-BE49-F238E27FC236}">
                <a16:creationId xmlns:a16="http://schemas.microsoft.com/office/drawing/2014/main" id="{4248CDC5-1388-C8A6-259B-96478524B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408326"/>
              </p:ext>
            </p:extLst>
          </p:nvPr>
        </p:nvGraphicFramePr>
        <p:xfrm>
          <a:off x="5289520" y="655669"/>
          <a:ext cx="104140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429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ell 86">
            <a:extLst>
              <a:ext uri="{FF2B5EF4-FFF2-40B4-BE49-F238E27FC236}">
                <a16:creationId xmlns:a16="http://schemas.microsoft.com/office/drawing/2014/main" id="{6332981D-5F24-7871-2F08-C3805ED79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327443"/>
              </p:ext>
            </p:extLst>
          </p:nvPr>
        </p:nvGraphicFramePr>
        <p:xfrm>
          <a:off x="5289520" y="1914709"/>
          <a:ext cx="104140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04294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ruta 63">
            <a:extLst>
              <a:ext uri="{FF2B5EF4-FFF2-40B4-BE49-F238E27FC236}">
                <a16:creationId xmlns:a16="http://schemas.microsoft.com/office/drawing/2014/main" id="{6BEB3458-F370-991E-0919-E656CD14C31A}"/>
              </a:ext>
            </a:extLst>
          </p:cNvPr>
          <p:cNvSpPr txBox="1"/>
          <p:nvPr/>
        </p:nvSpPr>
        <p:spPr>
          <a:xfrm>
            <a:off x="5689033" y="980728"/>
            <a:ext cx="2423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.</a:t>
            </a:r>
          </a:p>
          <a:p>
            <a:r>
              <a:rPr lang="sv-SE" dirty="0"/>
              <a:t>.</a:t>
            </a:r>
          </a:p>
          <a:p>
            <a:r>
              <a:rPr lang="sv-SE" dirty="0"/>
              <a:t>.</a:t>
            </a:r>
          </a:p>
        </p:txBody>
      </p:sp>
      <p:sp>
        <p:nvSpPr>
          <p:cNvPr id="20" name="Rektangel 43">
            <a:extLst>
              <a:ext uri="{FF2B5EF4-FFF2-40B4-BE49-F238E27FC236}">
                <a16:creationId xmlns:a16="http://schemas.microsoft.com/office/drawing/2014/main" id="{271B2E7F-5C16-5330-F24C-FCD1DEA2E680}"/>
              </a:ext>
            </a:extLst>
          </p:cNvPr>
          <p:cNvSpPr/>
          <p:nvPr/>
        </p:nvSpPr>
        <p:spPr>
          <a:xfrm>
            <a:off x="2339752" y="2636912"/>
            <a:ext cx="1368152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Image Encoder </a:t>
            </a:r>
          </a:p>
        </p:txBody>
      </p:sp>
      <p:cxnSp>
        <p:nvCxnSpPr>
          <p:cNvPr id="25" name="Rak pil 61">
            <a:extLst>
              <a:ext uri="{FF2B5EF4-FFF2-40B4-BE49-F238E27FC236}">
                <a16:creationId xmlns:a16="http://schemas.microsoft.com/office/drawing/2014/main" id="{11E8F4CB-2400-901F-F69A-66C7FB011BAB}"/>
              </a:ext>
            </a:extLst>
          </p:cNvPr>
          <p:cNvCxnSpPr>
            <a:cxnSpLocks/>
          </p:cNvCxnSpPr>
          <p:nvPr/>
        </p:nvCxnSpPr>
        <p:spPr>
          <a:xfrm>
            <a:off x="5315372" y="3396528"/>
            <a:ext cx="134486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ak 46">
            <a:extLst>
              <a:ext uri="{FF2B5EF4-FFF2-40B4-BE49-F238E27FC236}">
                <a16:creationId xmlns:a16="http://schemas.microsoft.com/office/drawing/2014/main" id="{1BE1C00F-5D1C-BD63-D84D-BD284C1F24CE}"/>
              </a:ext>
            </a:extLst>
          </p:cNvPr>
          <p:cNvCxnSpPr>
            <a:cxnSpLocks/>
          </p:cNvCxnSpPr>
          <p:nvPr/>
        </p:nvCxnSpPr>
        <p:spPr>
          <a:xfrm>
            <a:off x="6588224" y="210074"/>
            <a:ext cx="0" cy="21602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Figur 44">
            <a:extLst>
              <a:ext uri="{FF2B5EF4-FFF2-40B4-BE49-F238E27FC236}">
                <a16:creationId xmlns:a16="http://schemas.microsoft.com/office/drawing/2014/main" id="{BEB1FC06-3AC7-970C-9607-3B6EE9B48CA6}"/>
              </a:ext>
            </a:extLst>
          </p:cNvPr>
          <p:cNvCxnSpPr>
            <a:cxnSpLocks/>
            <a:endCxn id="49" idx="0"/>
          </p:cNvCxnSpPr>
          <p:nvPr/>
        </p:nvCxnSpPr>
        <p:spPr>
          <a:xfrm rot="16200000" flipH="1">
            <a:off x="6058369" y="1720493"/>
            <a:ext cx="1800200" cy="752717"/>
          </a:xfrm>
          <a:prstGeom prst="bentConnector3">
            <a:avLst>
              <a:gd name="adj1" fmla="val 264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Rak pil 45">
            <a:extLst>
              <a:ext uri="{FF2B5EF4-FFF2-40B4-BE49-F238E27FC236}">
                <a16:creationId xmlns:a16="http://schemas.microsoft.com/office/drawing/2014/main" id="{503A36CD-2046-E4EC-1260-1C6168B448C9}"/>
              </a:ext>
            </a:extLst>
          </p:cNvPr>
          <p:cNvCxnSpPr>
            <a:cxnSpLocks/>
            <a:stCxn id="49" idx="2"/>
          </p:cNvCxnSpPr>
          <p:nvPr/>
        </p:nvCxnSpPr>
        <p:spPr>
          <a:xfrm>
            <a:off x="7334828" y="3717031"/>
            <a:ext cx="0" cy="3203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ell 88">
            <a:extLst>
              <a:ext uri="{FF2B5EF4-FFF2-40B4-BE49-F238E27FC236}">
                <a16:creationId xmlns:a16="http://schemas.microsoft.com/office/drawing/2014/main" id="{99115580-DA11-2A6C-010B-7C1DCAFC3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198993"/>
              </p:ext>
            </p:extLst>
          </p:nvPr>
        </p:nvGraphicFramePr>
        <p:xfrm>
          <a:off x="6330920" y="5831491"/>
          <a:ext cx="2082800" cy="3708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56214893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4055449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7626774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989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Rektangel 48">
            <a:extLst>
              <a:ext uri="{FF2B5EF4-FFF2-40B4-BE49-F238E27FC236}">
                <a16:creationId xmlns:a16="http://schemas.microsoft.com/office/drawing/2014/main" id="{6B3E3F64-25B6-83A7-75DF-B5ABD76373EC}"/>
              </a:ext>
            </a:extLst>
          </p:cNvPr>
          <p:cNvSpPr/>
          <p:nvPr/>
        </p:nvSpPr>
        <p:spPr>
          <a:xfrm>
            <a:off x="6697847" y="4788519"/>
            <a:ext cx="1300626" cy="72007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Scale and Softmax</a:t>
            </a:r>
          </a:p>
        </p:txBody>
      </p:sp>
      <p:cxnSp>
        <p:nvCxnSpPr>
          <p:cNvPr id="80" name="Rak pil 45">
            <a:extLst>
              <a:ext uri="{FF2B5EF4-FFF2-40B4-BE49-F238E27FC236}">
                <a16:creationId xmlns:a16="http://schemas.microsoft.com/office/drawing/2014/main" id="{21755BA4-276C-0159-FB9D-C6EC4BC09704}"/>
              </a:ext>
            </a:extLst>
          </p:cNvPr>
          <p:cNvCxnSpPr>
            <a:cxnSpLocks/>
          </p:cNvCxnSpPr>
          <p:nvPr/>
        </p:nvCxnSpPr>
        <p:spPr>
          <a:xfrm>
            <a:off x="7334828" y="4447912"/>
            <a:ext cx="0" cy="3203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ak pil 45">
            <a:extLst>
              <a:ext uri="{FF2B5EF4-FFF2-40B4-BE49-F238E27FC236}">
                <a16:creationId xmlns:a16="http://schemas.microsoft.com/office/drawing/2014/main" id="{2C037B85-766D-D566-15C3-E3403AE157B7}"/>
              </a:ext>
            </a:extLst>
          </p:cNvPr>
          <p:cNvCxnSpPr>
            <a:cxnSpLocks/>
          </p:cNvCxnSpPr>
          <p:nvPr/>
        </p:nvCxnSpPr>
        <p:spPr>
          <a:xfrm>
            <a:off x="7341148" y="5508598"/>
            <a:ext cx="0" cy="32030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ruta 63">
            <a:extLst>
              <a:ext uri="{FF2B5EF4-FFF2-40B4-BE49-F238E27FC236}">
                <a16:creationId xmlns:a16="http://schemas.microsoft.com/office/drawing/2014/main" id="{1A0D7549-5549-B330-E9A3-4715391D10E5}"/>
              </a:ext>
            </a:extLst>
          </p:cNvPr>
          <p:cNvSpPr txBox="1"/>
          <p:nvPr/>
        </p:nvSpPr>
        <p:spPr>
          <a:xfrm>
            <a:off x="6749393" y="6179654"/>
            <a:ext cx="13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Probabilities</a:t>
            </a:r>
          </a:p>
        </p:txBody>
      </p:sp>
    </p:spTree>
    <p:extLst>
      <p:ext uri="{BB962C8B-B14F-4D97-AF65-F5344CB8AC3E}">
        <p14:creationId xmlns:p14="http://schemas.microsoft.com/office/powerpoint/2010/main" val="4096401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ktangel 123"/>
          <p:cNvSpPr/>
          <p:nvPr/>
        </p:nvSpPr>
        <p:spPr>
          <a:xfrm>
            <a:off x="2771800" y="4005064"/>
            <a:ext cx="4680520" cy="28083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Head</a:t>
            </a:r>
            <a:endParaRPr lang="sv-SE" dirty="0"/>
          </a:p>
        </p:txBody>
      </p:sp>
      <p:sp>
        <p:nvSpPr>
          <p:cNvPr id="8" name="Rektangel 7"/>
          <p:cNvSpPr/>
          <p:nvPr/>
        </p:nvSpPr>
        <p:spPr>
          <a:xfrm>
            <a:off x="4499992" y="4365104"/>
            <a:ext cx="1440160" cy="172819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 </a:t>
            </a:r>
            <a:r>
              <a:rPr lang="en-US" dirty="0"/>
              <a:t>&amp; Reshape</a:t>
            </a:r>
            <a:endParaRPr lang="sv-SE" dirty="0"/>
          </a:p>
        </p:txBody>
      </p:sp>
      <p:sp>
        <p:nvSpPr>
          <p:cNvPr id="9" name="Rektangel 8"/>
          <p:cNvSpPr/>
          <p:nvPr/>
        </p:nvSpPr>
        <p:spPr>
          <a:xfrm>
            <a:off x="6156176" y="4725144"/>
            <a:ext cx="1224136" cy="100811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</a:t>
            </a:r>
            <a:endParaRPr lang="sv-SE" dirty="0"/>
          </a:p>
        </p:txBody>
      </p:sp>
      <p:graphicFrame>
        <p:nvGraphicFramePr>
          <p:cNvPr id="11" name="Tabell 10"/>
          <p:cNvGraphicFramePr>
            <a:graphicFrameLocks noGrp="1"/>
          </p:cNvGraphicFramePr>
          <p:nvPr/>
        </p:nvGraphicFramePr>
        <p:xfrm>
          <a:off x="3131840" y="5085184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ell 11"/>
          <p:cNvGraphicFramePr>
            <a:graphicFrameLocks noGrp="1"/>
          </p:cNvGraphicFramePr>
          <p:nvPr/>
        </p:nvGraphicFramePr>
        <p:xfrm>
          <a:off x="3131840" y="638132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ell 12"/>
          <p:cNvGraphicFramePr>
            <a:graphicFrameLocks noGrp="1"/>
          </p:cNvGraphicFramePr>
          <p:nvPr/>
        </p:nvGraphicFramePr>
        <p:xfrm>
          <a:off x="3131840" y="551723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ell 13"/>
          <p:cNvGraphicFramePr>
            <a:graphicFrameLocks noGrp="1"/>
          </p:cNvGraphicFramePr>
          <p:nvPr/>
        </p:nvGraphicFramePr>
        <p:xfrm>
          <a:off x="3131840" y="5938480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Rektangel 36"/>
          <p:cNvSpPr/>
          <p:nvPr/>
        </p:nvSpPr>
        <p:spPr>
          <a:xfrm>
            <a:off x="323528" y="116632"/>
            <a:ext cx="6552728" cy="35730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sv-SE" dirty="0"/>
              <a:t>Input Embedder</a:t>
            </a:r>
          </a:p>
        </p:txBody>
      </p:sp>
      <p:graphicFrame>
        <p:nvGraphicFramePr>
          <p:cNvPr id="40" name="Tabell 39"/>
          <p:cNvGraphicFramePr>
            <a:graphicFrameLocks noGrp="1"/>
          </p:cNvGraphicFramePr>
          <p:nvPr/>
        </p:nvGraphicFramePr>
        <p:xfrm>
          <a:off x="2339752" y="1545992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Tabell 40"/>
          <p:cNvGraphicFramePr>
            <a:graphicFrameLocks noGrp="1"/>
          </p:cNvGraphicFramePr>
          <p:nvPr/>
        </p:nvGraphicFramePr>
        <p:xfrm>
          <a:off x="2339752" y="2554104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" name="Tabell 41"/>
          <p:cNvGraphicFramePr>
            <a:graphicFrameLocks noGrp="1"/>
          </p:cNvGraphicFramePr>
          <p:nvPr/>
        </p:nvGraphicFramePr>
        <p:xfrm>
          <a:off x="2339752" y="2050048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Tabell 42"/>
          <p:cNvGraphicFramePr>
            <a:graphicFrameLocks noGrp="1"/>
          </p:cNvGraphicFramePr>
          <p:nvPr/>
        </p:nvGraphicFramePr>
        <p:xfrm>
          <a:off x="2339752" y="3058160"/>
          <a:ext cx="1457960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Rak pil 43"/>
          <p:cNvCxnSpPr/>
          <p:nvPr/>
        </p:nvCxnSpPr>
        <p:spPr>
          <a:xfrm>
            <a:off x="1763688" y="2410088"/>
            <a:ext cx="43204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Rak 44"/>
          <p:cNvCxnSpPr/>
          <p:nvPr/>
        </p:nvCxnSpPr>
        <p:spPr>
          <a:xfrm>
            <a:off x="3923928" y="1556792"/>
            <a:ext cx="0" cy="18722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ak pil 45"/>
          <p:cNvCxnSpPr/>
          <p:nvPr/>
        </p:nvCxnSpPr>
        <p:spPr>
          <a:xfrm>
            <a:off x="3995936" y="1196752"/>
            <a:ext cx="151216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7" name="Tabell 46"/>
          <p:cNvGraphicFramePr>
            <a:graphicFrameLocks noGrp="1"/>
          </p:cNvGraphicFramePr>
          <p:nvPr/>
        </p:nvGraphicFramePr>
        <p:xfrm>
          <a:off x="5652120" y="155679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8" name="Tabell 47"/>
          <p:cNvGraphicFramePr>
            <a:graphicFrameLocks noGrp="1"/>
          </p:cNvGraphicFramePr>
          <p:nvPr/>
        </p:nvGraphicFramePr>
        <p:xfrm>
          <a:off x="5652120" y="313016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ell 48"/>
          <p:cNvGraphicFramePr>
            <a:graphicFrameLocks noGrp="1"/>
          </p:cNvGraphicFramePr>
          <p:nvPr/>
        </p:nvGraphicFramePr>
        <p:xfrm>
          <a:off x="5652120" y="2060848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" name="Rektangel 49"/>
          <p:cNvSpPr/>
          <p:nvPr/>
        </p:nvSpPr>
        <p:spPr>
          <a:xfrm>
            <a:off x="4283968" y="1772816"/>
            <a:ext cx="792088" cy="144016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Linear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72816"/>
            <a:ext cx="1353321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1" name="Rak pil 50"/>
          <p:cNvCxnSpPr/>
          <p:nvPr/>
        </p:nvCxnSpPr>
        <p:spPr>
          <a:xfrm>
            <a:off x="5076056" y="256490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Rak 51"/>
          <p:cNvCxnSpPr/>
          <p:nvPr/>
        </p:nvCxnSpPr>
        <p:spPr>
          <a:xfrm>
            <a:off x="5364088" y="1556792"/>
            <a:ext cx="0" cy="187220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ell 52"/>
          <p:cNvGraphicFramePr>
            <a:graphicFrameLocks noGrp="1"/>
          </p:cNvGraphicFramePr>
          <p:nvPr/>
        </p:nvGraphicFramePr>
        <p:xfrm>
          <a:off x="5652120" y="2626112"/>
          <a:ext cx="8331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Rektangel 53"/>
          <p:cNvSpPr/>
          <p:nvPr/>
        </p:nvSpPr>
        <p:spPr>
          <a:xfrm>
            <a:off x="323528" y="4725144"/>
            <a:ext cx="1440160" cy="1440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Transformer</a:t>
            </a:r>
          </a:p>
          <a:p>
            <a:pPr algn="ctr"/>
            <a:r>
              <a:rPr lang="sv-SE" dirty="0"/>
              <a:t>U-net </a:t>
            </a:r>
          </a:p>
        </p:txBody>
      </p:sp>
      <p:cxnSp>
        <p:nvCxnSpPr>
          <p:cNvPr id="55" name="Rak pil 54"/>
          <p:cNvCxnSpPr/>
          <p:nvPr/>
        </p:nvCxnSpPr>
        <p:spPr>
          <a:xfrm>
            <a:off x="6660232" y="1628800"/>
            <a:ext cx="57606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Rak 55"/>
          <p:cNvCxnSpPr/>
          <p:nvPr/>
        </p:nvCxnSpPr>
        <p:spPr>
          <a:xfrm>
            <a:off x="6660232" y="260648"/>
            <a:ext cx="0" cy="32403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Tabell 56"/>
          <p:cNvGraphicFramePr>
            <a:graphicFrameLocks noGrp="1"/>
          </p:cNvGraphicFramePr>
          <p:nvPr/>
        </p:nvGraphicFramePr>
        <p:xfrm>
          <a:off x="5652120" y="476672"/>
          <a:ext cx="83312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textruta 58"/>
          <p:cNvSpPr txBox="1"/>
          <p:nvPr/>
        </p:nvSpPr>
        <p:spPr>
          <a:xfrm>
            <a:off x="323528" y="476672"/>
            <a:ext cx="1101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Time step</a:t>
            </a:r>
            <a:endParaRPr lang="sv-SE" i="1" dirty="0"/>
          </a:p>
        </p:txBody>
      </p:sp>
      <p:sp>
        <p:nvSpPr>
          <p:cNvPr id="60" name="textruta 59"/>
          <p:cNvSpPr txBox="1"/>
          <p:nvPr/>
        </p:nvSpPr>
        <p:spPr>
          <a:xfrm>
            <a:off x="323528" y="980728"/>
            <a:ext cx="1700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Digit (condition)</a:t>
            </a:r>
            <a:endParaRPr lang="sv-SE" i="1" dirty="0"/>
          </a:p>
        </p:txBody>
      </p:sp>
      <p:sp>
        <p:nvSpPr>
          <p:cNvPr id="4" name="Rektangel 3"/>
          <p:cNvSpPr/>
          <p:nvPr/>
        </p:nvSpPr>
        <p:spPr>
          <a:xfrm>
            <a:off x="2267744" y="548680"/>
            <a:ext cx="1728192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Input Embedder</a:t>
            </a:r>
          </a:p>
        </p:txBody>
      </p:sp>
      <p:sp>
        <p:nvSpPr>
          <p:cNvPr id="5" name="Rektangel 4"/>
          <p:cNvSpPr/>
          <p:nvPr/>
        </p:nvSpPr>
        <p:spPr>
          <a:xfrm>
            <a:off x="2267744" y="1052736"/>
            <a:ext cx="1728192" cy="36004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Input Embedder</a:t>
            </a:r>
          </a:p>
        </p:txBody>
      </p:sp>
      <p:graphicFrame>
        <p:nvGraphicFramePr>
          <p:cNvPr id="63" name="Tabell 62"/>
          <p:cNvGraphicFramePr>
            <a:graphicFrameLocks noGrp="1"/>
          </p:cNvGraphicFramePr>
          <p:nvPr/>
        </p:nvGraphicFramePr>
        <p:xfrm>
          <a:off x="5652120" y="1052736"/>
          <a:ext cx="833120" cy="3708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4" name="Rak pil 63"/>
          <p:cNvCxnSpPr/>
          <p:nvPr/>
        </p:nvCxnSpPr>
        <p:spPr>
          <a:xfrm>
            <a:off x="3923928" y="256490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Rak pil 64"/>
          <p:cNvCxnSpPr/>
          <p:nvPr/>
        </p:nvCxnSpPr>
        <p:spPr>
          <a:xfrm>
            <a:off x="3995936" y="692696"/>
            <a:ext cx="151216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Rak pil 67"/>
          <p:cNvCxnSpPr/>
          <p:nvPr/>
        </p:nvCxnSpPr>
        <p:spPr>
          <a:xfrm>
            <a:off x="1475656" y="692696"/>
            <a:ext cx="79208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Rak pil 70"/>
          <p:cNvCxnSpPr/>
          <p:nvPr/>
        </p:nvCxnSpPr>
        <p:spPr>
          <a:xfrm>
            <a:off x="1979712" y="1196752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ktangel 81"/>
          <p:cNvSpPr/>
          <p:nvPr/>
        </p:nvSpPr>
        <p:spPr>
          <a:xfrm>
            <a:off x="7236296" y="692696"/>
            <a:ext cx="1152128" cy="187220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Positional Encoder</a:t>
            </a:r>
            <a:endParaRPr lang="sv-SE" dirty="0"/>
          </a:p>
        </p:txBody>
      </p:sp>
      <p:cxnSp>
        <p:nvCxnSpPr>
          <p:cNvPr id="84" name="Rak pil 83"/>
          <p:cNvCxnSpPr/>
          <p:nvPr/>
        </p:nvCxnSpPr>
        <p:spPr>
          <a:xfrm>
            <a:off x="7380312" y="5229200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ak pil 85"/>
          <p:cNvCxnSpPr/>
          <p:nvPr/>
        </p:nvCxnSpPr>
        <p:spPr>
          <a:xfrm>
            <a:off x="5940152" y="5229200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Tabell 86"/>
          <p:cNvGraphicFramePr>
            <a:graphicFrameLocks noGrp="1"/>
          </p:cNvGraphicFramePr>
          <p:nvPr/>
        </p:nvGraphicFramePr>
        <p:xfrm>
          <a:off x="3131840" y="4221088"/>
          <a:ext cx="833120" cy="3708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8" name="Tabell 87"/>
          <p:cNvGraphicFramePr>
            <a:graphicFrameLocks noGrp="1"/>
          </p:cNvGraphicFramePr>
          <p:nvPr/>
        </p:nvGraphicFramePr>
        <p:xfrm>
          <a:off x="3131840" y="4653136"/>
          <a:ext cx="833120" cy="37084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9" name="Rak 88"/>
          <p:cNvCxnSpPr/>
          <p:nvPr/>
        </p:nvCxnSpPr>
        <p:spPr>
          <a:xfrm>
            <a:off x="4067944" y="5085184"/>
            <a:ext cx="0" cy="165618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Rak pil 98"/>
          <p:cNvCxnSpPr>
            <a:endCxn id="8" idx="1"/>
          </p:cNvCxnSpPr>
          <p:nvPr/>
        </p:nvCxnSpPr>
        <p:spPr>
          <a:xfrm flipV="1">
            <a:off x="4067944" y="5229200"/>
            <a:ext cx="432048" cy="64807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Rak 100"/>
          <p:cNvCxnSpPr/>
          <p:nvPr/>
        </p:nvCxnSpPr>
        <p:spPr>
          <a:xfrm>
            <a:off x="2987824" y="4221088"/>
            <a:ext cx="0" cy="252028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Rak pil 102"/>
          <p:cNvCxnSpPr/>
          <p:nvPr/>
        </p:nvCxnSpPr>
        <p:spPr>
          <a:xfrm>
            <a:off x="2699792" y="5445224"/>
            <a:ext cx="288032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ktangel 104"/>
          <p:cNvSpPr/>
          <p:nvPr/>
        </p:nvSpPr>
        <p:spPr>
          <a:xfrm>
            <a:off x="1979712" y="4941168"/>
            <a:ext cx="720080" cy="10081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Layer</a:t>
            </a:r>
          </a:p>
          <a:p>
            <a:pPr algn="ctr"/>
            <a:r>
              <a:rPr lang="sv-SE" dirty="0"/>
              <a:t>Norm</a:t>
            </a:r>
          </a:p>
        </p:txBody>
      </p:sp>
      <p:cxnSp>
        <p:nvCxnSpPr>
          <p:cNvPr id="109" name="Rak pil 108"/>
          <p:cNvCxnSpPr>
            <a:stCxn id="54" idx="3"/>
          </p:cNvCxnSpPr>
          <p:nvPr/>
        </p:nvCxnSpPr>
        <p:spPr>
          <a:xfrm>
            <a:off x="1763688" y="5445224"/>
            <a:ext cx="216024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Figur 115"/>
          <p:cNvCxnSpPr>
            <a:stCxn id="82" idx="3"/>
            <a:endCxn id="54" idx="0"/>
          </p:cNvCxnSpPr>
          <p:nvPr/>
        </p:nvCxnSpPr>
        <p:spPr>
          <a:xfrm flipH="1">
            <a:off x="1043608" y="1628800"/>
            <a:ext cx="7344816" cy="3096344"/>
          </a:xfrm>
          <a:prstGeom prst="bentConnector4">
            <a:avLst>
              <a:gd name="adj1" fmla="val -6080"/>
              <a:gd name="adj2" fmla="val 71961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Tabell 38"/>
          <p:cNvGraphicFramePr>
            <a:graphicFrameLocks noGrp="1"/>
          </p:cNvGraphicFramePr>
          <p:nvPr/>
        </p:nvGraphicFramePr>
        <p:xfrm>
          <a:off x="395536" y="1762016"/>
          <a:ext cx="1368152" cy="1389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96337" y="4509120"/>
            <a:ext cx="1342338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Tabell 9"/>
          <p:cNvGraphicFramePr>
            <a:graphicFrameLocks noGrp="1"/>
          </p:cNvGraphicFramePr>
          <p:nvPr/>
        </p:nvGraphicFramePr>
        <p:xfrm>
          <a:off x="7596336" y="4509120"/>
          <a:ext cx="1368152" cy="1389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40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876"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sv-SE" dirty="0">
                        <a:ln>
                          <a:solidFill>
                            <a:srgbClr val="FFFF00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08304" y="2708920"/>
            <a:ext cx="1224136" cy="1254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2708920"/>
            <a:ext cx="1224136" cy="125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832" y="2636912"/>
            <a:ext cx="1224136" cy="1251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576" y="2636912"/>
            <a:ext cx="1281940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5" name="Kurva 14"/>
          <p:cNvCxnSpPr>
            <a:stCxn id="1028" idx="0"/>
            <a:endCxn id="1027" idx="0"/>
          </p:cNvCxnSpPr>
          <p:nvPr/>
        </p:nvCxnSpPr>
        <p:spPr>
          <a:xfrm rot="16200000" flipH="1">
            <a:off x="4644008" y="1664804"/>
            <a:ext cx="72008" cy="2016224"/>
          </a:xfrm>
          <a:prstGeom prst="curvedConnector3">
            <a:avLst>
              <a:gd name="adj1" fmla="val -1267757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Kurva 17"/>
          <p:cNvCxnSpPr>
            <a:stCxn id="1027" idx="2"/>
            <a:endCxn id="1028" idx="2"/>
          </p:cNvCxnSpPr>
          <p:nvPr/>
        </p:nvCxnSpPr>
        <p:spPr>
          <a:xfrm rot="5400000" flipH="1">
            <a:off x="4644008" y="2915844"/>
            <a:ext cx="72008" cy="2016224"/>
          </a:xfrm>
          <a:prstGeom prst="curvedConnector3">
            <a:avLst>
              <a:gd name="adj1" fmla="val -101546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 dirty="0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 dirty="0"/>
          </a:p>
        </p:txBody>
      </p:sp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95936" y="1268760"/>
            <a:ext cx="1362075" cy="409575"/>
          </a:xfrm>
          <a:prstGeom prst="rect">
            <a:avLst/>
          </a:prstGeom>
          <a:noFill/>
        </p:spPr>
      </p:pic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 dirty="0"/>
          </a:p>
        </p:txBody>
      </p:sp>
      <p:cxnSp>
        <p:nvCxnSpPr>
          <p:cNvPr id="40" name="Rak pil 39"/>
          <p:cNvCxnSpPr/>
          <p:nvPr/>
        </p:nvCxnSpPr>
        <p:spPr>
          <a:xfrm>
            <a:off x="2051720" y="2924944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Rak pil 40"/>
          <p:cNvCxnSpPr/>
          <p:nvPr/>
        </p:nvCxnSpPr>
        <p:spPr>
          <a:xfrm>
            <a:off x="4283968" y="2924944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3" name="Rak pil 42"/>
          <p:cNvCxnSpPr/>
          <p:nvPr/>
        </p:nvCxnSpPr>
        <p:spPr>
          <a:xfrm>
            <a:off x="6300192" y="2924944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Rak pil 43"/>
          <p:cNvCxnSpPr/>
          <p:nvPr/>
        </p:nvCxnSpPr>
        <p:spPr>
          <a:xfrm flipH="1">
            <a:off x="6300192" y="3645024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Rak pil 46"/>
          <p:cNvCxnSpPr/>
          <p:nvPr/>
        </p:nvCxnSpPr>
        <p:spPr>
          <a:xfrm flipH="1">
            <a:off x="4283968" y="3645024"/>
            <a:ext cx="792088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Rak pil 48"/>
          <p:cNvCxnSpPr/>
          <p:nvPr/>
        </p:nvCxnSpPr>
        <p:spPr>
          <a:xfrm flipH="1">
            <a:off x="2051720" y="3645024"/>
            <a:ext cx="1008112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textruta 49"/>
          <p:cNvSpPr txBox="1"/>
          <p:nvPr/>
        </p:nvSpPr>
        <p:spPr>
          <a:xfrm>
            <a:off x="1979712" y="2636912"/>
            <a:ext cx="96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Forward</a:t>
            </a:r>
          </a:p>
        </p:txBody>
      </p:sp>
      <p:sp>
        <p:nvSpPr>
          <p:cNvPr id="51" name="textruta 50"/>
          <p:cNvSpPr txBox="1"/>
          <p:nvPr/>
        </p:nvSpPr>
        <p:spPr>
          <a:xfrm>
            <a:off x="6444208" y="3356992"/>
            <a:ext cx="918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Reverse</a:t>
            </a: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/>
          </a:p>
        </p:txBody>
      </p:sp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27584" y="2204864"/>
            <a:ext cx="304800" cy="409575"/>
          </a:xfrm>
          <a:prstGeom prst="rect">
            <a:avLst/>
          </a:prstGeom>
          <a:noFill/>
        </p:spPr>
      </p:pic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/>
          </a:p>
        </p:txBody>
      </p:sp>
      <p:pic>
        <p:nvPicPr>
          <p:cNvPr id="1050" name="Picture 26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59832" y="2204864"/>
            <a:ext cx="561975" cy="409575"/>
          </a:xfrm>
          <a:prstGeom prst="rect">
            <a:avLst/>
          </a:prstGeom>
          <a:noFill/>
        </p:spPr>
      </p:pic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/>
          </a:p>
        </p:txBody>
      </p:sp>
      <p:pic>
        <p:nvPicPr>
          <p:cNvPr id="1053" name="Picture 29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76056" y="2276872"/>
            <a:ext cx="276225" cy="409575"/>
          </a:xfrm>
          <a:prstGeom prst="rect">
            <a:avLst/>
          </a:prstGeom>
          <a:noFill/>
        </p:spPr>
      </p:pic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/>
          </a:p>
        </p:txBody>
      </p:sp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08304" y="2276872"/>
            <a:ext cx="323850" cy="409575"/>
          </a:xfrm>
          <a:prstGeom prst="rect">
            <a:avLst/>
          </a:prstGeom>
          <a:noFill/>
        </p:spPr>
      </p:pic>
      <p:sp>
        <p:nvSpPr>
          <p:cNvPr id="1058" name="Rectangle 34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sv-SE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51920" y="4725144"/>
            <a:ext cx="1514475" cy="409575"/>
          </a:xfrm>
          <a:prstGeom prst="rect">
            <a:avLst/>
          </a:prstGeom>
          <a:noFill/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866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v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205</Words>
  <Application>Microsoft Office PowerPoint</Application>
  <PresentationFormat>On-screen Show (4:3)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Office-tema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Bild 1</dc:title>
  <dc:creator>Fredrik</dc:creator>
  <cp:lastModifiedBy>Fredrik Säveros</cp:lastModifiedBy>
  <cp:revision>86</cp:revision>
  <dcterms:created xsi:type="dcterms:W3CDTF">2026-01-19T17:53:40Z</dcterms:created>
  <dcterms:modified xsi:type="dcterms:W3CDTF">2026-10-26T17:43:33Z</dcterms:modified>
</cp:coreProperties>
</file>